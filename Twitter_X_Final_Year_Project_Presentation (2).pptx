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handoutMasterIdLst>
    <p:handoutMasterId r:id="rId31"/>
  </p:handoutMasterIdLst>
  <p:sldIdLst>
    <p:sldId id="256" r:id="rId2"/>
    <p:sldId id="293" r:id="rId3"/>
    <p:sldId id="294" r:id="rId4"/>
    <p:sldId id="295" r:id="rId5"/>
    <p:sldId id="258" r:id="rId6"/>
    <p:sldId id="259" r:id="rId7"/>
    <p:sldId id="278" r:id="rId8"/>
    <p:sldId id="260" r:id="rId9"/>
    <p:sldId id="279" r:id="rId10"/>
    <p:sldId id="263" r:id="rId11"/>
    <p:sldId id="280" r:id="rId12"/>
    <p:sldId id="281" r:id="rId13"/>
    <p:sldId id="282" r:id="rId14"/>
    <p:sldId id="283" r:id="rId15"/>
    <p:sldId id="284" r:id="rId16"/>
    <p:sldId id="285" r:id="rId17"/>
    <p:sldId id="286" r:id="rId18"/>
    <p:sldId id="287" r:id="rId19"/>
    <p:sldId id="288" r:id="rId20"/>
    <p:sldId id="271" r:id="rId21"/>
    <p:sldId id="289" r:id="rId22"/>
    <p:sldId id="290" r:id="rId23"/>
    <p:sldId id="272" r:id="rId24"/>
    <p:sldId id="273" r:id="rId25"/>
    <p:sldId id="274" r:id="rId26"/>
    <p:sldId id="275" r:id="rId27"/>
    <p:sldId id="291" r:id="rId28"/>
    <p:sldId id="292"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3" d="100"/>
          <a:sy n="63" d="100"/>
        </p:scale>
        <p:origin x="1512"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27FE0AC-1D80-FBFF-BEC2-7C385CDA2E0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94897D67-282C-D4A3-1D7E-53DDE18CE99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023B551-7597-494A-9602-8D17CA7F74AD}" type="datetimeFigureOut">
              <a:rPr lang="en-IN" smtClean="0"/>
              <a:t>23-05-2026</a:t>
            </a:fld>
            <a:endParaRPr lang="en-IN"/>
          </a:p>
        </p:txBody>
      </p:sp>
      <p:sp>
        <p:nvSpPr>
          <p:cNvPr id="4" name="Footer Placeholder 3">
            <a:extLst>
              <a:ext uri="{FF2B5EF4-FFF2-40B4-BE49-F238E27FC236}">
                <a16:creationId xmlns:a16="http://schemas.microsoft.com/office/drawing/2014/main" id="{D5908806-B313-8FC1-25F0-FB252BF93BA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D1039395-51AB-9C9C-6050-F20A4A0339B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E0E77-7DB5-4E0B-A93F-BAECA8D0732E}" type="slidenum">
              <a:rPr lang="en-IN" smtClean="0"/>
              <a:t>‹#›</a:t>
            </a:fld>
            <a:endParaRPr lang="en-IN"/>
          </a:p>
        </p:txBody>
      </p:sp>
    </p:spTree>
    <p:extLst>
      <p:ext uri="{BB962C8B-B14F-4D97-AF65-F5344CB8AC3E}">
        <p14:creationId xmlns:p14="http://schemas.microsoft.com/office/powerpoint/2010/main" val="4093937890"/>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D1CC07-479D-49CC-8DC4-77AB14DA8355}" type="datetimeFigureOut">
              <a:rPr lang="en-IN" smtClean="0"/>
              <a:t>23-05-2026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B650BA-F266-4EB4-BAA0-CDE0B558CE58}" type="slidenum">
              <a:rPr lang="en-IN" smtClean="0"/>
              <a:t>‹#›</a:t>
            </a:fld>
            <a:endParaRPr lang="en-IN"/>
          </a:p>
        </p:txBody>
      </p:sp>
    </p:spTree>
    <p:extLst>
      <p:ext uri="{BB962C8B-B14F-4D97-AF65-F5344CB8AC3E}">
        <p14:creationId xmlns:p14="http://schemas.microsoft.com/office/powerpoint/2010/main" val="1459412179"/>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3B650BA-F266-4EB4-BAA0-CDE0B558CE58}" type="slidenum">
              <a:rPr lang="en-IN" smtClean="0"/>
              <a:t>1</a:t>
            </a:fld>
            <a:endParaRPr lang="en-IN"/>
          </a:p>
        </p:txBody>
      </p:sp>
      <p:sp>
        <p:nvSpPr>
          <p:cNvPr id="5" name="Footer Placeholder 4">
            <a:extLst>
              <a:ext uri="{FF2B5EF4-FFF2-40B4-BE49-F238E27FC236}">
                <a16:creationId xmlns:a16="http://schemas.microsoft.com/office/drawing/2014/main" id="{434A4FC4-B3B5-9B2A-955B-4AE7A5471A91}"/>
              </a:ext>
            </a:extLst>
          </p:cNvPr>
          <p:cNvSpPr>
            <a:spLocks noGrp="1"/>
          </p:cNvSpPr>
          <p:nvPr>
            <p:ph type="ftr" sz="quarter" idx="4"/>
          </p:nvPr>
        </p:nvSpPr>
        <p:spPr/>
        <p:txBody>
          <a:bodyPr/>
          <a:lstStyle/>
          <a:p>
            <a:endParaRPr lang="en-IN"/>
          </a:p>
        </p:txBody>
      </p:sp>
    </p:spTree>
    <p:extLst>
      <p:ext uri="{BB962C8B-B14F-4D97-AF65-F5344CB8AC3E}">
        <p14:creationId xmlns:p14="http://schemas.microsoft.com/office/powerpoint/2010/main" val="1187613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4"/>
          </p:nvPr>
        </p:nvSpPr>
        <p:spPr/>
        <p:txBody>
          <a:bodyPr/>
          <a:lstStyle/>
          <a:p>
            <a:endParaRPr lang="en-IN"/>
          </a:p>
        </p:txBody>
      </p:sp>
      <p:sp>
        <p:nvSpPr>
          <p:cNvPr id="5" name="Slide Number Placeholder 4"/>
          <p:cNvSpPr>
            <a:spLocks noGrp="1"/>
          </p:cNvSpPr>
          <p:nvPr>
            <p:ph type="sldNum" sz="quarter" idx="5"/>
          </p:nvPr>
        </p:nvSpPr>
        <p:spPr/>
        <p:txBody>
          <a:bodyPr/>
          <a:lstStyle/>
          <a:p>
            <a:fld id="{03B650BA-F266-4EB4-BAA0-CDE0B558CE58}" type="slidenum">
              <a:rPr lang="en-IN" smtClean="0"/>
              <a:t>2</a:t>
            </a:fld>
            <a:endParaRPr lang="en-IN"/>
          </a:p>
        </p:txBody>
      </p:sp>
    </p:spTree>
    <p:extLst>
      <p:ext uri="{BB962C8B-B14F-4D97-AF65-F5344CB8AC3E}">
        <p14:creationId xmlns:p14="http://schemas.microsoft.com/office/powerpoint/2010/main" val="24752899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4"/>
          </p:nvPr>
        </p:nvSpPr>
        <p:spPr/>
        <p:txBody>
          <a:bodyPr/>
          <a:lstStyle/>
          <a:p>
            <a:endParaRPr lang="en-IN"/>
          </a:p>
        </p:txBody>
      </p:sp>
      <p:sp>
        <p:nvSpPr>
          <p:cNvPr id="5" name="Slide Number Placeholder 4"/>
          <p:cNvSpPr>
            <a:spLocks noGrp="1"/>
          </p:cNvSpPr>
          <p:nvPr>
            <p:ph type="sldNum" sz="quarter" idx="5"/>
          </p:nvPr>
        </p:nvSpPr>
        <p:spPr/>
        <p:txBody>
          <a:bodyPr/>
          <a:lstStyle/>
          <a:p>
            <a:fld id="{03B650BA-F266-4EB4-BAA0-CDE0B558CE58}" type="slidenum">
              <a:rPr lang="en-IN" smtClean="0"/>
              <a:t>15</a:t>
            </a:fld>
            <a:endParaRPr lang="en-IN"/>
          </a:p>
        </p:txBody>
      </p:sp>
    </p:spTree>
    <p:extLst>
      <p:ext uri="{BB962C8B-B14F-4D97-AF65-F5344CB8AC3E}">
        <p14:creationId xmlns:p14="http://schemas.microsoft.com/office/powerpoint/2010/main" val="35672406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DD19AA5-3669-46F9-98B7-9A9B4D3E867A}" type="datetime1">
              <a:rPr lang="en-US" smtClean="0"/>
              <a:t>5/23/2026</a:t>
            </a:fld>
            <a:endParaRPr lang="en-US"/>
          </a:p>
        </p:txBody>
      </p:sp>
      <p:sp>
        <p:nvSpPr>
          <p:cNvPr id="5" name="Footer Placeholder 4"/>
          <p:cNvSpPr>
            <a:spLocks noGrp="1"/>
          </p:cNvSpPr>
          <p:nvPr>
            <p:ph type="ftr" sz="quarter" idx="11"/>
          </p:nvPr>
        </p:nvSpPr>
        <p:spPr/>
        <p:txBody>
          <a:bodyPr/>
          <a:lstStyle/>
          <a:p>
            <a:r>
              <a:rPr lang="en-US"/>
              <a:t>Twitter(X) Engagement Patterns: Time, Content &amp; Caption Analysis</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D3EC36-C159-4616-BB30-401071776878}" type="datetime1">
              <a:rPr lang="en-US" smtClean="0"/>
              <a:t>5/23/2026</a:t>
            </a:fld>
            <a:endParaRPr lang="en-US"/>
          </a:p>
        </p:txBody>
      </p:sp>
      <p:sp>
        <p:nvSpPr>
          <p:cNvPr id="5" name="Footer Placeholder 4"/>
          <p:cNvSpPr>
            <a:spLocks noGrp="1"/>
          </p:cNvSpPr>
          <p:nvPr>
            <p:ph type="ftr" sz="quarter" idx="11"/>
          </p:nvPr>
        </p:nvSpPr>
        <p:spPr/>
        <p:txBody>
          <a:bodyPr/>
          <a:lstStyle/>
          <a:p>
            <a:r>
              <a:rPr lang="en-US"/>
              <a:t>Twitter(X) Engagement Patterns: Time, Content &amp; Caption Analysis</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F25233-D39B-4673-A3DE-01C765DB115D}" type="datetime1">
              <a:rPr lang="en-US" smtClean="0"/>
              <a:t>5/23/2026</a:t>
            </a:fld>
            <a:endParaRPr lang="en-US"/>
          </a:p>
        </p:txBody>
      </p:sp>
      <p:sp>
        <p:nvSpPr>
          <p:cNvPr id="5" name="Footer Placeholder 4"/>
          <p:cNvSpPr>
            <a:spLocks noGrp="1"/>
          </p:cNvSpPr>
          <p:nvPr>
            <p:ph type="ftr" sz="quarter" idx="11"/>
          </p:nvPr>
        </p:nvSpPr>
        <p:spPr/>
        <p:txBody>
          <a:bodyPr/>
          <a:lstStyle/>
          <a:p>
            <a:r>
              <a:rPr lang="en-US"/>
              <a:t>Twitter(X) Engagement Patterns: Time, Content &amp; Caption Analysis</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760D6AC-1380-482F-AC4C-3230A1A8514D}" type="datetime1">
              <a:rPr lang="en-US" smtClean="0"/>
              <a:t>5/23/2026</a:t>
            </a:fld>
            <a:endParaRPr lang="en-US"/>
          </a:p>
        </p:txBody>
      </p:sp>
      <p:sp>
        <p:nvSpPr>
          <p:cNvPr id="6" name="Footer Placeholder 5"/>
          <p:cNvSpPr>
            <a:spLocks noGrp="1"/>
          </p:cNvSpPr>
          <p:nvPr>
            <p:ph type="ftr" sz="quarter" idx="11"/>
          </p:nvPr>
        </p:nvSpPr>
        <p:spPr/>
        <p:txBody>
          <a:bodyPr/>
          <a:lstStyle/>
          <a:p>
            <a:r>
              <a:rPr lang="en-US"/>
              <a:t>Twitter(X) Engagement Patterns: Time, Content &amp; Caption Analysis</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B0B4776-A883-4F95-902D-C2F94E512B1A}" type="datetime1">
              <a:rPr lang="en-US" smtClean="0"/>
              <a:t>5/23/2026</a:t>
            </a:fld>
            <a:endParaRPr lang="en-US"/>
          </a:p>
        </p:txBody>
      </p:sp>
      <p:sp>
        <p:nvSpPr>
          <p:cNvPr id="8" name="Footer Placeholder 7"/>
          <p:cNvSpPr>
            <a:spLocks noGrp="1"/>
          </p:cNvSpPr>
          <p:nvPr>
            <p:ph type="ftr" sz="quarter" idx="11"/>
          </p:nvPr>
        </p:nvSpPr>
        <p:spPr/>
        <p:txBody>
          <a:bodyPr/>
          <a:lstStyle/>
          <a:p>
            <a:r>
              <a:rPr lang="en-US"/>
              <a:t>Twitter(X) Engagement Patterns: Time, Content &amp; Caption Analysis</a:t>
            </a:r>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AFE99B0-2343-4733-B536-32047704B35E}" type="datetime1">
              <a:rPr lang="en-US" smtClean="0"/>
              <a:t>5/23/2026</a:t>
            </a:fld>
            <a:endParaRPr lang="en-US"/>
          </a:p>
        </p:txBody>
      </p:sp>
      <p:sp>
        <p:nvSpPr>
          <p:cNvPr id="4" name="Footer Placeholder 3"/>
          <p:cNvSpPr>
            <a:spLocks noGrp="1"/>
          </p:cNvSpPr>
          <p:nvPr>
            <p:ph type="ftr" sz="quarter" idx="11"/>
          </p:nvPr>
        </p:nvSpPr>
        <p:spPr/>
        <p:txBody>
          <a:bodyPr/>
          <a:lstStyle/>
          <a:p>
            <a:r>
              <a:rPr lang="en-US"/>
              <a:t>Twitter(X) Engagement Patterns: Time, Content &amp; Caption Analysis</a:t>
            </a:r>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866505-F687-4FCC-AD4D-A736E35204BC}" type="datetime1">
              <a:rPr lang="en-US" smtClean="0"/>
              <a:t>5/23/2026</a:t>
            </a:fld>
            <a:endParaRPr lang="en-US"/>
          </a:p>
        </p:txBody>
      </p:sp>
      <p:sp>
        <p:nvSpPr>
          <p:cNvPr id="3" name="Footer Placeholder 2"/>
          <p:cNvSpPr>
            <a:spLocks noGrp="1"/>
          </p:cNvSpPr>
          <p:nvPr>
            <p:ph type="ftr" sz="quarter" idx="11"/>
          </p:nvPr>
        </p:nvSpPr>
        <p:spPr/>
        <p:txBody>
          <a:bodyPr/>
          <a:lstStyle/>
          <a:p>
            <a:r>
              <a:rPr lang="en-US"/>
              <a:t>Twitter(X) Engagement Patterns: Time, Content &amp; Caption Analysis</a:t>
            </a:r>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B5539F-C358-49A3-9269-F60E50BF29A3}" type="datetime1">
              <a:rPr lang="en-US" smtClean="0"/>
              <a:t>5/23/2026</a:t>
            </a:fld>
            <a:endParaRPr lang="en-US"/>
          </a:p>
        </p:txBody>
      </p:sp>
      <p:sp>
        <p:nvSpPr>
          <p:cNvPr id="6" name="Footer Placeholder 5"/>
          <p:cNvSpPr>
            <a:spLocks noGrp="1"/>
          </p:cNvSpPr>
          <p:nvPr>
            <p:ph type="ftr" sz="quarter" idx="11"/>
          </p:nvPr>
        </p:nvSpPr>
        <p:spPr/>
        <p:txBody>
          <a:bodyPr/>
          <a:lstStyle/>
          <a:p>
            <a:r>
              <a:rPr lang="en-US"/>
              <a:t>Twitter(X) Engagement Patterns: Time, Content &amp; Caption Analysis</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E48079F-C6C7-4999-BDF7-07B9C844F27F}" type="datetime1">
              <a:rPr lang="en-US" smtClean="0"/>
              <a:t>5/23/2026</a:t>
            </a:fld>
            <a:endParaRPr lang="en-US"/>
          </a:p>
        </p:txBody>
      </p:sp>
      <p:sp>
        <p:nvSpPr>
          <p:cNvPr id="6" name="Footer Placeholder 5"/>
          <p:cNvSpPr>
            <a:spLocks noGrp="1"/>
          </p:cNvSpPr>
          <p:nvPr>
            <p:ph type="ftr" sz="quarter" idx="11"/>
          </p:nvPr>
        </p:nvSpPr>
        <p:spPr/>
        <p:txBody>
          <a:bodyPr/>
          <a:lstStyle/>
          <a:p>
            <a:r>
              <a:rPr lang="en-US"/>
              <a:t>Twitter(X) Engagement Patterns: Time, Content &amp; Caption Analysis</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085571-9C37-4EA9-8791-B08E51C1E45A}" type="datetime1">
              <a:rPr lang="en-US" smtClean="0"/>
              <a:t>5/23/2026</a:t>
            </a:fld>
            <a:endParaRPr lang="en-US"/>
          </a:p>
        </p:txBody>
      </p:sp>
      <p:sp>
        <p:nvSpPr>
          <p:cNvPr id="5" name="Footer Placeholder 4"/>
          <p:cNvSpPr>
            <a:spLocks noGrp="1"/>
          </p:cNvSpPr>
          <p:nvPr>
            <p:ph type="ftr" sz="quarter" idx="11"/>
          </p:nvPr>
        </p:nvSpPr>
        <p:spPr/>
        <p:txBody>
          <a:bodyPr/>
          <a:lstStyle/>
          <a:p>
            <a:r>
              <a:rPr lang="en-US"/>
              <a:t>Twitter(X) Engagement Patterns: Time, Content &amp; Caption Analysis</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F2F9168-D97A-4AC9-A36A-138962E14343}" type="datetime1">
              <a:rPr lang="en-US" smtClean="0"/>
              <a:t>5/23/2026</a:t>
            </a:fld>
            <a:endParaRPr lang="en-US"/>
          </a:p>
        </p:txBody>
      </p:sp>
      <p:sp>
        <p:nvSpPr>
          <p:cNvPr id="5" name="Footer Placeholder 4"/>
          <p:cNvSpPr>
            <a:spLocks noGrp="1"/>
          </p:cNvSpPr>
          <p:nvPr>
            <p:ph type="ftr" sz="quarter" idx="11"/>
          </p:nvPr>
        </p:nvSpPr>
        <p:spPr/>
        <p:txBody>
          <a:bodyPr/>
          <a:lstStyle/>
          <a:p>
            <a:r>
              <a:rPr lang="en-US"/>
              <a:t>Twitter(X) Engagement Patterns: Time, Content &amp; Caption Analysis</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A6C40A-AE31-442C-A05A-2D8D21418F6E}" type="datetime1">
              <a:rPr lang="en-US" smtClean="0"/>
              <a:t>5/23/2026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Twitter(X) Engagement Patterns: Time, Content &amp; Caption Analysis</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5726A66-360C-EA76-C7F9-D2DABDC78C8A}"/>
              </a:ext>
            </a:extLst>
          </p:cNvPr>
          <p:cNvSpPr txBox="1"/>
          <p:nvPr/>
        </p:nvSpPr>
        <p:spPr>
          <a:xfrm>
            <a:off x="756393" y="362128"/>
            <a:ext cx="7736441" cy="1200329"/>
          </a:xfrm>
          <a:prstGeom prst="rect">
            <a:avLst/>
          </a:prstGeom>
          <a:noFill/>
        </p:spPr>
        <p:txBody>
          <a:bodyPr wrap="square" rtlCol="0">
            <a:spAutoFit/>
          </a:bodyPr>
          <a:lstStyle/>
          <a:p>
            <a:pPr marL="1701800" indent="-1701800"/>
            <a:r>
              <a:rPr lang="en-IN" sz="3600" dirty="0">
                <a:latin typeface="Times New Roman" panose="02020603050405020304" pitchFamily="18" charset="0"/>
                <a:cs typeface="Times New Roman" panose="02020603050405020304" pitchFamily="18" charset="0"/>
              </a:rPr>
              <a:t>Twitter(X) Engagement Patterns: Time, </a:t>
            </a:r>
          </a:p>
          <a:p>
            <a:pPr marL="1701800" indent="-1701800" algn="ctr"/>
            <a:r>
              <a:rPr lang="en-IN" sz="3600" dirty="0">
                <a:latin typeface="Times New Roman" panose="02020603050405020304" pitchFamily="18" charset="0"/>
                <a:cs typeface="Times New Roman" panose="02020603050405020304" pitchFamily="18" charset="0"/>
              </a:rPr>
              <a:t>Content &amp; Caption Analysis</a:t>
            </a:r>
          </a:p>
        </p:txBody>
      </p:sp>
      <p:sp>
        <p:nvSpPr>
          <p:cNvPr id="3" name="TextBox 2">
            <a:extLst>
              <a:ext uri="{FF2B5EF4-FFF2-40B4-BE49-F238E27FC236}">
                <a16:creationId xmlns:a16="http://schemas.microsoft.com/office/drawing/2014/main" id="{F997DA05-4DB8-6924-13D7-2F9A79EAFBEB}"/>
              </a:ext>
            </a:extLst>
          </p:cNvPr>
          <p:cNvSpPr txBox="1"/>
          <p:nvPr/>
        </p:nvSpPr>
        <p:spPr>
          <a:xfrm>
            <a:off x="1835693" y="1767660"/>
            <a:ext cx="4572000" cy="2246769"/>
          </a:xfrm>
          <a:prstGeom prst="rect">
            <a:avLst/>
          </a:prstGeom>
          <a:noFill/>
        </p:spPr>
        <p:txBody>
          <a:bodyPr wrap="square">
            <a:spAutoFit/>
          </a:bodyPr>
          <a:lstStyle/>
          <a:p>
            <a:pPr algn="ctr"/>
            <a:r>
              <a:rPr lang="en-IN" sz="2000" dirty="0">
                <a:latin typeface="Times New Roman" panose="02020603050405020304" pitchFamily="18" charset="0"/>
                <a:cs typeface="Times New Roman" panose="02020603050405020304" pitchFamily="18" charset="0"/>
              </a:rPr>
              <a:t>		     Submitted by</a:t>
            </a:r>
          </a:p>
          <a:p>
            <a:pPr algn="ctr"/>
            <a:endParaRPr lang="en-IN" sz="2000" dirty="0">
              <a:latin typeface="Times New Roman" panose="02020603050405020304" pitchFamily="18" charset="0"/>
              <a:cs typeface="Times New Roman" panose="02020603050405020304" pitchFamily="18" charset="0"/>
            </a:endParaRPr>
          </a:p>
          <a:p>
            <a:pPr marL="1311275" algn="ctr"/>
            <a:r>
              <a:rPr lang="en-IN" sz="2000" b="1" dirty="0">
                <a:latin typeface="Times New Roman" panose="02020603050405020304" pitchFamily="18" charset="0"/>
                <a:cs typeface="Times New Roman" panose="02020603050405020304" pitchFamily="18" charset="0"/>
              </a:rPr>
              <a:t>Biswanath Kar </a:t>
            </a:r>
          </a:p>
          <a:p>
            <a:pPr marL="1265238" algn="ctr"/>
            <a:r>
              <a:rPr lang="en-IN" sz="2000" b="1" dirty="0">
                <a:latin typeface="Times New Roman" panose="02020603050405020304" pitchFamily="18" charset="0"/>
                <a:cs typeface="Times New Roman" panose="02020603050405020304" pitchFamily="18" charset="0"/>
              </a:rPr>
              <a:t>Akbar Ali Ansary</a:t>
            </a:r>
          </a:p>
          <a:p>
            <a:pPr marL="1265238" algn="ctr"/>
            <a:r>
              <a:rPr lang="en-IN" sz="2000" b="1" dirty="0">
                <a:latin typeface="Times New Roman" panose="02020603050405020304" pitchFamily="18" charset="0"/>
                <a:cs typeface="Times New Roman" panose="02020603050405020304" pitchFamily="18" charset="0"/>
              </a:rPr>
              <a:t>Anuskha Das </a:t>
            </a:r>
          </a:p>
          <a:p>
            <a:pPr marL="1265238" algn="ctr"/>
            <a:r>
              <a:rPr lang="en-IN" sz="2000" b="1" dirty="0">
                <a:latin typeface="Times New Roman" panose="02020603050405020304" pitchFamily="18" charset="0"/>
                <a:cs typeface="Times New Roman" panose="02020603050405020304" pitchFamily="18" charset="0"/>
              </a:rPr>
              <a:t>Suraj Ghosh</a:t>
            </a:r>
          </a:p>
          <a:p>
            <a:pPr marL="1265238" algn="ctr"/>
            <a:r>
              <a:rPr lang="en-IN" sz="2000" b="1" dirty="0" err="1">
                <a:latin typeface="Times New Roman" panose="02020603050405020304" pitchFamily="18" charset="0"/>
                <a:cs typeface="Times New Roman" panose="02020603050405020304" pitchFamily="18" charset="0"/>
              </a:rPr>
              <a:t>Snehamay</a:t>
            </a:r>
            <a:r>
              <a:rPr lang="en-IN" sz="2000" b="1" dirty="0">
                <a:latin typeface="Times New Roman" panose="02020603050405020304" pitchFamily="18" charset="0"/>
                <a:cs typeface="Times New Roman" panose="02020603050405020304" pitchFamily="18" charset="0"/>
              </a:rPr>
              <a:t> Gayen </a:t>
            </a:r>
            <a:endParaRPr lang="en-IN"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EA583C9-DE13-8A36-7FB0-CF9CA66373DA}"/>
              </a:ext>
            </a:extLst>
          </p:cNvPr>
          <p:cNvSpPr txBox="1"/>
          <p:nvPr/>
        </p:nvSpPr>
        <p:spPr>
          <a:xfrm>
            <a:off x="202936" y="4328542"/>
            <a:ext cx="8738127" cy="1477328"/>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in partial fulfilment for the award</a:t>
            </a:r>
          </a:p>
          <a:p>
            <a:pPr algn="ctr"/>
            <a:r>
              <a:rPr lang="en-US" dirty="0">
                <a:latin typeface="Times New Roman" panose="02020603050405020304" pitchFamily="18" charset="0"/>
                <a:cs typeface="Times New Roman" panose="02020603050405020304" pitchFamily="18" charset="0"/>
              </a:rPr>
              <a:t> of</a:t>
            </a:r>
          </a:p>
          <a:p>
            <a:pPr algn="ctr"/>
            <a:r>
              <a:rPr lang="en-US" dirty="0">
                <a:latin typeface="Times New Roman" panose="02020603050405020304" pitchFamily="18" charset="0"/>
                <a:cs typeface="Times New Roman" panose="02020603050405020304" pitchFamily="18" charset="0"/>
              </a:rPr>
              <a:t> degree of Bachelor of Technology in Computer Science &amp; Engineering – Data Science</a:t>
            </a:r>
          </a:p>
          <a:p>
            <a:pPr algn="ctr"/>
            <a:r>
              <a:rPr lang="en-US" dirty="0">
                <a:latin typeface="Times New Roman" panose="02020603050405020304" pitchFamily="18" charset="0"/>
                <a:cs typeface="Times New Roman" panose="02020603050405020304" pitchFamily="18" charset="0"/>
              </a:rPr>
              <a:t> in</a:t>
            </a:r>
          </a:p>
          <a:p>
            <a:pPr algn="ctr"/>
            <a:r>
              <a:rPr lang="en-US" dirty="0">
                <a:latin typeface="Times New Roman" panose="02020603050405020304" pitchFamily="18" charset="0"/>
                <a:cs typeface="Times New Roman" panose="02020603050405020304" pitchFamily="18" charset="0"/>
              </a:rPr>
              <a:t> Department of CSE-CS &amp; DS, School of Engineering </a:t>
            </a:r>
            <a:endParaRPr lang="en-IN" dirty="0">
              <a:latin typeface="Times New Roman" panose="02020603050405020304" pitchFamily="18" charset="0"/>
              <a:cs typeface="Times New Roman" panose="02020603050405020304" pitchFamily="18" charset="0"/>
            </a:endParaRPr>
          </a:p>
        </p:txBody>
      </p:sp>
      <p:pic>
        <p:nvPicPr>
          <p:cNvPr id="5" name="Picture 4" descr="Brainware University - Department of ...">
            <a:extLst>
              <a:ext uri="{FF2B5EF4-FFF2-40B4-BE49-F238E27FC236}">
                <a16:creationId xmlns:a16="http://schemas.microsoft.com/office/drawing/2014/main" id="{115DCEF8-DC4B-5E68-040E-1EC852667CCB}"/>
              </a:ext>
            </a:extLst>
          </p:cNvPr>
          <p:cNvPicPr>
            <a:picLocks noChangeAspect="1"/>
          </p:cNvPicPr>
          <p:nvPr/>
        </p:nvPicPr>
        <p:blipFill>
          <a:blip r:embed="rId3"/>
          <a:stretch>
            <a:fillRect/>
          </a:stretch>
        </p:blipFill>
        <p:spPr>
          <a:xfrm>
            <a:off x="4300877" y="5805870"/>
            <a:ext cx="843362" cy="843362"/>
          </a:xfrm>
          <a:prstGeom prst="rect">
            <a:avLst/>
          </a:prstGeom>
        </p:spPr>
      </p:pic>
      <p:sp>
        <p:nvSpPr>
          <p:cNvPr id="7" name="Slide Number Placeholder 6">
            <a:extLst>
              <a:ext uri="{FF2B5EF4-FFF2-40B4-BE49-F238E27FC236}">
                <a16:creationId xmlns:a16="http://schemas.microsoft.com/office/drawing/2014/main" id="{D15C4E7C-A047-2676-81F4-E09FBB0E49CB}"/>
              </a:ext>
            </a:extLst>
          </p:cNvPr>
          <p:cNvSpPr>
            <a:spLocks noGrp="1"/>
          </p:cNvSpPr>
          <p:nvPr>
            <p:ph type="sldNum" sz="quarter" idx="12"/>
          </p:nvPr>
        </p:nvSpPr>
        <p:spPr/>
        <p:txBody>
          <a:bodyPr/>
          <a:lstStyle/>
          <a:p>
            <a:fld id="{C1FF6DA9-008F-8B48-92A6-B652298478BF}"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B41BD427-4771-6023-832D-1D1576543038}"/>
              </a:ext>
            </a:extLst>
          </p:cNvPr>
          <p:cNvGraphicFramePr>
            <a:graphicFrameLocks noGrp="1"/>
          </p:cNvGraphicFramePr>
          <p:nvPr>
            <p:extLst>
              <p:ext uri="{D42A27DB-BD31-4B8C-83A1-F6EECF244321}">
                <p14:modId xmlns:p14="http://schemas.microsoft.com/office/powerpoint/2010/main" val="1691536977"/>
              </p:ext>
            </p:extLst>
          </p:nvPr>
        </p:nvGraphicFramePr>
        <p:xfrm>
          <a:off x="548640" y="2321560"/>
          <a:ext cx="8199119" cy="2707640"/>
        </p:xfrm>
        <a:graphic>
          <a:graphicData uri="http://schemas.openxmlformats.org/drawingml/2006/table">
            <a:tbl>
              <a:tblPr firstRow="1" firstCol="1" lastRow="1" lastCol="1" bandRow="1" bandCol="1">
                <a:tableStyleId>{5940675A-B579-460E-94D1-54222C63F5DA}</a:tableStyleId>
              </a:tblPr>
              <a:tblGrid>
                <a:gridCol w="1952044">
                  <a:extLst>
                    <a:ext uri="{9D8B030D-6E8A-4147-A177-3AD203B41FA5}">
                      <a16:colId xmlns:a16="http://schemas.microsoft.com/office/drawing/2014/main" val="3064999516"/>
                    </a:ext>
                  </a:extLst>
                </a:gridCol>
                <a:gridCol w="1484161">
                  <a:extLst>
                    <a:ext uri="{9D8B030D-6E8A-4147-A177-3AD203B41FA5}">
                      <a16:colId xmlns:a16="http://schemas.microsoft.com/office/drawing/2014/main" val="3113878542"/>
                    </a:ext>
                  </a:extLst>
                </a:gridCol>
                <a:gridCol w="2735995">
                  <a:extLst>
                    <a:ext uri="{9D8B030D-6E8A-4147-A177-3AD203B41FA5}">
                      <a16:colId xmlns:a16="http://schemas.microsoft.com/office/drawing/2014/main" val="2747911968"/>
                    </a:ext>
                  </a:extLst>
                </a:gridCol>
                <a:gridCol w="2026919">
                  <a:extLst>
                    <a:ext uri="{9D8B030D-6E8A-4147-A177-3AD203B41FA5}">
                      <a16:colId xmlns:a16="http://schemas.microsoft.com/office/drawing/2014/main" val="3634781092"/>
                    </a:ext>
                  </a:extLst>
                </a:gridCol>
              </a:tblGrid>
              <a:tr h="450766">
                <a:tc>
                  <a:txBody>
                    <a:bodyPr/>
                    <a:lstStyle/>
                    <a:p>
                      <a:pPr marL="67945" marR="0" algn="ctr">
                        <a:spcBef>
                          <a:spcPts val="10"/>
                        </a:spcBef>
                        <a:buNone/>
                      </a:pPr>
                      <a:r>
                        <a:rPr lang="en-US" sz="1800" dirty="0">
                          <a:effectLst/>
                          <a:latin typeface="Times New Roman" panose="02020603050405020304" pitchFamily="18" charset="0"/>
                          <a:cs typeface="Times New Roman" panose="02020603050405020304" pitchFamily="18" charset="0"/>
                        </a:rPr>
                        <a:t>Student</a:t>
                      </a:r>
                      <a:r>
                        <a:rPr lang="en-US" sz="1800" spc="-25" dirty="0">
                          <a:effectLst/>
                          <a:latin typeface="Times New Roman" panose="02020603050405020304" pitchFamily="18" charset="0"/>
                          <a:cs typeface="Times New Roman" panose="02020603050405020304" pitchFamily="18" charset="0"/>
                        </a:rPr>
                        <a:t> </a:t>
                      </a:r>
                      <a:r>
                        <a:rPr lang="en-US" sz="1800" spc="-20" dirty="0">
                          <a:effectLst/>
                          <a:latin typeface="Times New Roman" panose="02020603050405020304" pitchFamily="18" charset="0"/>
                          <a:cs typeface="Times New Roman" panose="02020603050405020304" pitchFamily="18" charset="0"/>
                        </a:rPr>
                        <a:t>Code</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marL="67945" marR="0" algn="ctr">
                        <a:spcBef>
                          <a:spcPts val="10"/>
                        </a:spcBef>
                        <a:buNone/>
                      </a:pPr>
                      <a:r>
                        <a:rPr lang="en-US" sz="1800">
                          <a:effectLst/>
                          <a:latin typeface="Times New Roman" panose="02020603050405020304" pitchFamily="18" charset="0"/>
                          <a:cs typeface="Times New Roman" panose="02020603050405020304" pitchFamily="18" charset="0"/>
                        </a:rPr>
                        <a:t>Roll </a:t>
                      </a:r>
                      <a:r>
                        <a:rPr lang="en-US" sz="1800" spc="-10">
                          <a:effectLst/>
                          <a:latin typeface="Times New Roman" panose="02020603050405020304" pitchFamily="18" charset="0"/>
                          <a:cs typeface="Times New Roman" panose="02020603050405020304" pitchFamily="18" charset="0"/>
                        </a:rPr>
                        <a:t>Number</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marL="11430" marR="0" algn="ctr">
                        <a:spcBef>
                          <a:spcPts val="10"/>
                        </a:spcBef>
                        <a:buNone/>
                      </a:pPr>
                      <a:r>
                        <a:rPr lang="en-US" sz="1800">
                          <a:effectLst/>
                          <a:latin typeface="Times New Roman" panose="02020603050405020304" pitchFamily="18" charset="0"/>
                          <a:cs typeface="Times New Roman" panose="02020603050405020304" pitchFamily="18" charset="0"/>
                        </a:rPr>
                        <a:t>Registration</a:t>
                      </a:r>
                      <a:r>
                        <a:rPr lang="en-US" sz="1800" spc="-25">
                          <a:effectLst/>
                          <a:latin typeface="Times New Roman" panose="02020603050405020304" pitchFamily="18" charset="0"/>
                          <a:cs typeface="Times New Roman" panose="02020603050405020304" pitchFamily="18" charset="0"/>
                        </a:rPr>
                        <a:t> </a:t>
                      </a:r>
                      <a:r>
                        <a:rPr lang="en-US" sz="1800" spc="-10">
                          <a:effectLst/>
                          <a:latin typeface="Times New Roman" panose="02020603050405020304" pitchFamily="18" charset="0"/>
                          <a:cs typeface="Times New Roman" panose="02020603050405020304" pitchFamily="18" charset="0"/>
                        </a:rPr>
                        <a:t>Number</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marL="812165" marR="0" algn="ctr">
                        <a:spcBef>
                          <a:spcPts val="10"/>
                        </a:spcBef>
                        <a:buNone/>
                      </a:pPr>
                      <a:r>
                        <a:rPr lang="en-US" sz="1800" spc="-20">
                          <a:effectLst/>
                          <a:latin typeface="Times New Roman" panose="02020603050405020304" pitchFamily="18" charset="0"/>
                          <a:cs typeface="Times New Roman" panose="02020603050405020304" pitchFamily="18" charset="0"/>
                        </a:rPr>
                        <a:t>Name</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1063838387"/>
                  </a:ext>
                </a:extLst>
              </a:tr>
              <a:tr h="450766">
                <a:tc>
                  <a:txBody>
                    <a:bodyPr/>
                    <a:lstStyle/>
                    <a:p>
                      <a:pPr marL="0" marR="0" algn="ctr">
                        <a:buNone/>
                      </a:pPr>
                      <a:r>
                        <a:rPr lang="en-US" sz="1800">
                          <a:effectLst/>
                          <a:latin typeface="Times New Roman" panose="02020603050405020304" pitchFamily="18" charset="0"/>
                          <a:cs typeface="Times New Roman" panose="02020603050405020304" pitchFamily="18" charset="0"/>
                        </a:rPr>
                        <a:t>BWU/BTD/22/123</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marL="0" marR="0" algn="ctr">
                        <a:buNone/>
                      </a:pPr>
                      <a:r>
                        <a:rPr lang="en-US" sz="1800">
                          <a:effectLst/>
                          <a:latin typeface="Times New Roman" panose="02020603050405020304" pitchFamily="18" charset="0"/>
                          <a:cs typeface="Times New Roman" panose="02020603050405020304" pitchFamily="18" charset="0"/>
                        </a:rPr>
                        <a:t>22010333114</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marL="0" marR="0" algn="ctr">
                        <a:buNone/>
                      </a:pPr>
                      <a:r>
                        <a:rPr lang="en-US" sz="1800" dirty="0">
                          <a:effectLst/>
                          <a:latin typeface="Times New Roman" panose="02020603050405020304" pitchFamily="18" charset="0"/>
                          <a:cs typeface="Times New Roman" panose="02020603050405020304" pitchFamily="18" charset="0"/>
                        </a:rPr>
                        <a:t>22013002019 of 2022-2023</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marL="0" marR="0" algn="ctr">
                        <a:spcBef>
                          <a:spcPts val="10"/>
                        </a:spcBef>
                        <a:buNone/>
                      </a:pPr>
                      <a:r>
                        <a:rPr lang="en-US" sz="1800">
                          <a:effectLst/>
                          <a:latin typeface="Times New Roman" panose="02020603050405020304" pitchFamily="18" charset="0"/>
                          <a:cs typeface="Times New Roman" panose="02020603050405020304" pitchFamily="18" charset="0"/>
                        </a:rPr>
                        <a:t>Biswanath Kar</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3434807784"/>
                  </a:ext>
                </a:extLst>
              </a:tr>
              <a:tr h="452288">
                <a:tc>
                  <a:txBody>
                    <a:bodyPr/>
                    <a:lstStyle/>
                    <a:p>
                      <a:pPr marL="0" marR="0" algn="ctr">
                        <a:buNone/>
                      </a:pPr>
                      <a:r>
                        <a:rPr lang="en-US" sz="1800">
                          <a:effectLst/>
                          <a:latin typeface="Times New Roman" panose="02020603050405020304" pitchFamily="18" charset="0"/>
                          <a:cs typeface="Times New Roman" panose="02020603050405020304" pitchFamily="18" charset="0"/>
                        </a:rPr>
                        <a:t>BWU/BTD/22/141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marL="0" marR="0" algn="ctr">
                        <a:buNone/>
                      </a:pPr>
                      <a:r>
                        <a:rPr lang="en-US" sz="1800">
                          <a:effectLst/>
                          <a:latin typeface="Times New Roman" panose="02020603050405020304" pitchFamily="18" charset="0"/>
                          <a:cs typeface="Times New Roman" panose="02020603050405020304" pitchFamily="18" charset="0"/>
                        </a:rPr>
                        <a:t>22010333131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marL="0" marR="0" algn="ctr">
                        <a:buNone/>
                      </a:pPr>
                      <a:r>
                        <a:rPr lang="en-US" sz="1800" dirty="0">
                          <a:effectLst/>
                          <a:latin typeface="Times New Roman" panose="02020603050405020304" pitchFamily="18" charset="0"/>
                          <a:cs typeface="Times New Roman" panose="02020603050405020304" pitchFamily="18" charset="0"/>
                        </a:rPr>
                        <a:t>22013002036 of 2022-2023</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marL="0" marR="0" algn="ctr">
                        <a:spcBef>
                          <a:spcPts val="20"/>
                        </a:spcBef>
                        <a:buNone/>
                      </a:pPr>
                      <a:r>
                        <a:rPr lang="en-US" sz="1800">
                          <a:effectLst/>
                          <a:latin typeface="Times New Roman" panose="02020603050405020304" pitchFamily="18" charset="0"/>
                          <a:cs typeface="Times New Roman" panose="02020603050405020304" pitchFamily="18" charset="0"/>
                        </a:rPr>
                        <a:t>Akbar Ali Ansary</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3190938399"/>
                  </a:ext>
                </a:extLst>
              </a:tr>
              <a:tr h="450766">
                <a:tc>
                  <a:txBody>
                    <a:bodyPr/>
                    <a:lstStyle/>
                    <a:p>
                      <a:pPr marL="0" marR="0" algn="ctr">
                        <a:buNone/>
                      </a:pPr>
                      <a:r>
                        <a:rPr lang="en-US" sz="1800">
                          <a:effectLst/>
                          <a:latin typeface="Times New Roman" panose="02020603050405020304" pitchFamily="18" charset="0"/>
                          <a:cs typeface="Times New Roman" panose="02020603050405020304" pitchFamily="18" charset="0"/>
                        </a:rPr>
                        <a:t>BWU/BTD/22/127</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marL="0" marR="0" algn="ctr">
                        <a:buNone/>
                      </a:pPr>
                      <a:r>
                        <a:rPr lang="en-US" sz="1800">
                          <a:effectLst/>
                          <a:latin typeface="Times New Roman" panose="02020603050405020304" pitchFamily="18" charset="0"/>
                          <a:cs typeface="Times New Roman" panose="02020603050405020304" pitchFamily="18" charset="0"/>
                        </a:rPr>
                        <a:t>22010333118</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marL="0" marR="0" algn="ctr">
                        <a:buNone/>
                      </a:pPr>
                      <a:r>
                        <a:rPr lang="en-US" sz="1800" dirty="0">
                          <a:effectLst/>
                          <a:latin typeface="Times New Roman" panose="02020603050405020304" pitchFamily="18" charset="0"/>
                          <a:cs typeface="Times New Roman" panose="02020603050405020304" pitchFamily="18" charset="0"/>
                        </a:rPr>
                        <a:t>22013002023 of 2022-2023</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marL="0" marR="0" algn="ctr">
                        <a:spcBef>
                          <a:spcPts val="10"/>
                        </a:spcBef>
                        <a:buNone/>
                      </a:pPr>
                      <a:r>
                        <a:rPr lang="en-US" sz="1800" dirty="0">
                          <a:effectLst/>
                          <a:latin typeface="Times New Roman" panose="02020603050405020304" pitchFamily="18" charset="0"/>
                          <a:cs typeface="Times New Roman" panose="02020603050405020304" pitchFamily="18" charset="0"/>
                        </a:rPr>
                        <a:t>Anushka Das</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3392744690"/>
                  </a:ext>
                </a:extLst>
              </a:tr>
              <a:tr h="450766">
                <a:tc>
                  <a:txBody>
                    <a:bodyPr/>
                    <a:lstStyle/>
                    <a:p>
                      <a:pPr marL="0" marR="0" algn="ctr">
                        <a:buNone/>
                      </a:pPr>
                      <a:r>
                        <a:rPr lang="en-US" sz="1800">
                          <a:effectLst/>
                          <a:latin typeface="Times New Roman" panose="02020603050405020304" pitchFamily="18" charset="0"/>
                          <a:cs typeface="Times New Roman" panose="02020603050405020304" pitchFamily="18" charset="0"/>
                        </a:rPr>
                        <a:t>BWU/BTD/22/174</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marL="0" marR="0" algn="ctr">
                        <a:buNone/>
                      </a:pPr>
                      <a:r>
                        <a:rPr lang="en-US" sz="1800">
                          <a:effectLst/>
                          <a:latin typeface="Times New Roman" panose="02020603050405020304" pitchFamily="18" charset="0"/>
                          <a:cs typeface="Times New Roman" panose="02020603050405020304" pitchFamily="18" charset="0"/>
                        </a:rPr>
                        <a:t>22010333162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marL="0" marR="0" algn="ctr">
                        <a:buNone/>
                      </a:pPr>
                      <a:r>
                        <a:rPr lang="en-US" sz="1800" dirty="0">
                          <a:effectLst/>
                          <a:latin typeface="Times New Roman" panose="02020603050405020304" pitchFamily="18" charset="0"/>
                          <a:cs typeface="Times New Roman" panose="02020603050405020304" pitchFamily="18" charset="0"/>
                        </a:rPr>
                        <a:t>22013002067 of 2022-2023</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marL="0" marR="0" algn="ctr">
                        <a:spcBef>
                          <a:spcPts val="10"/>
                        </a:spcBef>
                        <a:buNone/>
                      </a:pPr>
                      <a:r>
                        <a:rPr lang="en-US" sz="1800">
                          <a:effectLst/>
                          <a:latin typeface="Times New Roman" panose="02020603050405020304" pitchFamily="18" charset="0"/>
                          <a:cs typeface="Times New Roman" panose="02020603050405020304" pitchFamily="18" charset="0"/>
                        </a:rPr>
                        <a:t>Suraj Ghosh</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4269750827"/>
                  </a:ext>
                </a:extLst>
              </a:tr>
              <a:tr h="452288">
                <a:tc>
                  <a:txBody>
                    <a:bodyPr/>
                    <a:lstStyle/>
                    <a:p>
                      <a:pPr marL="0" marR="0" algn="ctr">
                        <a:buNone/>
                      </a:pPr>
                      <a:r>
                        <a:rPr lang="en-US" sz="1800">
                          <a:effectLst/>
                          <a:latin typeface="Times New Roman" panose="02020603050405020304" pitchFamily="18" charset="0"/>
                          <a:cs typeface="Times New Roman" panose="02020603050405020304" pitchFamily="18" charset="0"/>
                        </a:rPr>
                        <a:t>BWU/BTD/22/173</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marL="0" marR="0" algn="ctr">
                        <a:buNone/>
                      </a:pPr>
                      <a:r>
                        <a:rPr lang="en-US" sz="1800" dirty="0">
                          <a:effectLst/>
                          <a:latin typeface="Times New Roman" panose="02020603050405020304" pitchFamily="18" charset="0"/>
                          <a:cs typeface="Times New Roman" panose="02020603050405020304" pitchFamily="18" charset="0"/>
                        </a:rPr>
                        <a:t>22010333161</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marL="0" marR="0" algn="ctr">
                        <a:buNone/>
                      </a:pPr>
                      <a:r>
                        <a:rPr lang="en-US" sz="1800" dirty="0">
                          <a:effectLst/>
                          <a:latin typeface="Times New Roman" panose="02020603050405020304" pitchFamily="18" charset="0"/>
                          <a:cs typeface="Times New Roman" panose="02020603050405020304" pitchFamily="18" charset="0"/>
                        </a:rPr>
                        <a:t>22013002066 of 2022-2023</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marL="0" marR="0" algn="ctr">
                        <a:spcBef>
                          <a:spcPts val="10"/>
                        </a:spcBef>
                        <a:buNone/>
                      </a:pPr>
                      <a:r>
                        <a:rPr lang="en-US" sz="1800" dirty="0" err="1">
                          <a:effectLst/>
                          <a:latin typeface="Times New Roman" panose="02020603050405020304" pitchFamily="18" charset="0"/>
                          <a:cs typeface="Times New Roman" panose="02020603050405020304" pitchFamily="18" charset="0"/>
                        </a:rPr>
                        <a:t>Snehamay</a:t>
                      </a:r>
                      <a:r>
                        <a:rPr lang="en-US" sz="1800" dirty="0">
                          <a:effectLst/>
                          <a:latin typeface="Times New Roman" panose="02020603050405020304" pitchFamily="18" charset="0"/>
                          <a:cs typeface="Times New Roman" panose="02020603050405020304" pitchFamily="18" charset="0"/>
                        </a:rPr>
                        <a:t> Gayen</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2383640648"/>
                  </a:ext>
                </a:extLst>
              </a:tr>
            </a:tbl>
          </a:graphicData>
        </a:graphic>
      </p:graphicFrame>
      <p:sp>
        <p:nvSpPr>
          <p:cNvPr id="6" name="Rectangle 1">
            <a:extLst>
              <a:ext uri="{FF2B5EF4-FFF2-40B4-BE49-F238E27FC236}">
                <a16:creationId xmlns:a16="http://schemas.microsoft.com/office/drawing/2014/main" id="{0C09522F-C053-376F-10A8-130E2E6252DC}"/>
              </a:ext>
            </a:extLst>
          </p:cNvPr>
          <p:cNvSpPr>
            <a:spLocks noChangeArrowheads="1"/>
          </p:cNvSpPr>
          <p:nvPr/>
        </p:nvSpPr>
        <p:spPr bwMode="auto">
          <a:xfrm>
            <a:off x="182881" y="-329192"/>
            <a:ext cx="9137436" cy="3285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09370" tIns="926808" rIns="809370" bIns="177744"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Twitter(X) Engagement Patterns: Time, Content &amp; Caption Analysis</a:t>
            </a:r>
            <a:endParaRPr kumimoji="0" lang="en-US" altLang="en-US" sz="2400" b="1" i="0" u="sng"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300"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Course Code: PROJ-CSD882 </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Course Title: Project II</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dirty="0">
                <a:ln>
                  <a:noFill/>
                </a:ln>
                <a:solidFill>
                  <a:schemeClr val="tx1"/>
                </a:solidFill>
                <a:effectLst/>
                <a:latin typeface="Arial" panose="020B0604020202020204" pitchFamily="34" charset="0"/>
                <a:ea typeface="Calibri" panose="020F0502020204030204" pitchFamily="34" charset="0"/>
              </a:rPr>
            </a:br>
            <a:endParaRPr kumimoji="0" lang="en-US" altLang="en-US" sz="8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1" i="1" u="none" strike="noStrike" cap="none" normalizeH="0" baseline="0" dirty="0">
                <a:ln>
                  <a:noFill/>
                </a:ln>
                <a:solidFill>
                  <a:schemeClr val="tx1"/>
                </a:solidFill>
                <a:effectLst/>
                <a:latin typeface="Arial" panose="020B0604020202020204" pitchFamily="34" charset="0"/>
                <a:ea typeface="Calibri" panose="020F0502020204030204" pitchFamily="34" charset="0"/>
              </a:rPr>
              <a:t>Submitted by</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400" b="1" i="1" u="none" strike="noStrike" cap="none" normalizeH="0" baseline="0" dirty="0">
                <a:ln>
                  <a:noFill/>
                </a:ln>
                <a:solidFill>
                  <a:schemeClr val="tx1"/>
                </a:solidFill>
                <a:effectLst/>
                <a:latin typeface="Arial" panose="020B0604020202020204" pitchFamily="34" charset="0"/>
                <a:ea typeface="Calibri" panose="020F0502020204030204" pitchFamily="34" charset="0"/>
              </a:rPr>
            </a:br>
            <a:endParaRPr kumimoji="0" lang="en-US" altLang="en-US"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F286EE4A-8BAD-DD64-597D-FE50F3FEA5D4}"/>
              </a:ext>
            </a:extLst>
          </p:cNvPr>
          <p:cNvSpPr txBox="1"/>
          <p:nvPr/>
        </p:nvSpPr>
        <p:spPr>
          <a:xfrm>
            <a:off x="6065520" y="5223686"/>
            <a:ext cx="3078480" cy="64633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Project Supervisor</a:t>
            </a:r>
          </a:p>
          <a:p>
            <a:r>
              <a:rPr lang="en-US" b="1" dirty="0">
                <a:latin typeface="Times New Roman" panose="02020603050405020304" pitchFamily="18" charset="0"/>
                <a:cs typeface="Times New Roman" panose="02020603050405020304" pitchFamily="18" charset="0"/>
              </a:rPr>
              <a:t>Mr. Partha Sankar Nayak</a:t>
            </a:r>
            <a:endParaRPr lang="en-IN" b="1" dirty="0">
              <a:latin typeface="Times New Roman" panose="02020603050405020304" pitchFamily="18" charset="0"/>
              <a:cs typeface="Times New Roman" panose="02020603050405020304" pitchFamily="18" charset="0"/>
            </a:endParaRPr>
          </a:p>
        </p:txBody>
      </p:sp>
      <p:pic>
        <p:nvPicPr>
          <p:cNvPr id="8" name="Picture 7" descr="Brainware University - Department of ...">
            <a:extLst>
              <a:ext uri="{FF2B5EF4-FFF2-40B4-BE49-F238E27FC236}">
                <a16:creationId xmlns:a16="http://schemas.microsoft.com/office/drawing/2014/main" id="{FDC62BFD-CF3B-FBD6-2632-807026D0E383}"/>
              </a:ext>
            </a:extLst>
          </p:cNvPr>
          <p:cNvPicPr>
            <a:picLocks noChangeAspect="1"/>
          </p:cNvPicPr>
          <p:nvPr/>
        </p:nvPicPr>
        <p:blipFill>
          <a:blip r:embed="rId3"/>
          <a:stretch>
            <a:fillRect/>
          </a:stretch>
        </p:blipFill>
        <p:spPr>
          <a:xfrm>
            <a:off x="3938717" y="5845658"/>
            <a:ext cx="843362" cy="843362"/>
          </a:xfrm>
          <a:prstGeom prst="rect">
            <a:avLst/>
          </a:prstGeom>
        </p:spPr>
      </p:pic>
      <p:sp>
        <p:nvSpPr>
          <p:cNvPr id="9" name="Slide Number Placeholder 8">
            <a:extLst>
              <a:ext uri="{FF2B5EF4-FFF2-40B4-BE49-F238E27FC236}">
                <a16:creationId xmlns:a16="http://schemas.microsoft.com/office/drawing/2014/main" id="{F63A7D9C-7585-29C2-BEAC-6EEF87934FF2}"/>
              </a:ext>
            </a:extLst>
          </p:cNvPr>
          <p:cNvSpPr>
            <a:spLocks noGrp="1"/>
          </p:cNvSpPr>
          <p:nvPr>
            <p:ph type="sldNum" sz="quarter" idx="12"/>
          </p:nvPr>
        </p:nvSpPr>
        <p:spPr/>
        <p:txBody>
          <a:bodyPr/>
          <a:lstStyle/>
          <a:p>
            <a:fld id="{C1FF6DA9-008F-8B48-92A6-B652298478BF}" type="slidenum">
              <a:rPr lang="en-US" smtClean="0"/>
              <a:t>2</a:t>
            </a:fld>
            <a:endParaRPr lang="en-US"/>
          </a:p>
        </p:txBody>
      </p:sp>
    </p:spTree>
    <p:extLst>
      <p:ext uri="{BB962C8B-B14F-4D97-AF65-F5344CB8AC3E}">
        <p14:creationId xmlns:p14="http://schemas.microsoft.com/office/powerpoint/2010/main" val="9340409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545E666-FD2C-BB2C-A970-F299B912088C}"/>
              </a:ext>
            </a:extLst>
          </p:cNvPr>
          <p:cNvSpPr>
            <a:spLocks noGrp="1"/>
          </p:cNvSpPr>
          <p:nvPr>
            <p:ph type="sldNum" sz="quarter" idx="12"/>
          </p:nvPr>
        </p:nvSpPr>
        <p:spPr/>
        <p:txBody>
          <a:bodyPr/>
          <a:lstStyle/>
          <a:p>
            <a:fld id="{C1FF6DA9-008F-8B48-92A6-B652298478BF}" type="slidenum">
              <a:rPr lang="en-US" smtClean="0"/>
              <a:t>3</a:t>
            </a:fld>
            <a:endParaRPr lang="en-US"/>
          </a:p>
        </p:txBody>
      </p:sp>
      <p:sp>
        <p:nvSpPr>
          <p:cNvPr id="5" name="TextBox 4">
            <a:extLst>
              <a:ext uri="{FF2B5EF4-FFF2-40B4-BE49-F238E27FC236}">
                <a16:creationId xmlns:a16="http://schemas.microsoft.com/office/drawing/2014/main" id="{7933E26C-5A7B-3AEB-0019-7ACBDE4876B2}"/>
              </a:ext>
            </a:extLst>
          </p:cNvPr>
          <p:cNvSpPr txBox="1"/>
          <p:nvPr/>
        </p:nvSpPr>
        <p:spPr>
          <a:xfrm>
            <a:off x="563880" y="594360"/>
            <a:ext cx="4008120"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Acknowledgement</a:t>
            </a:r>
            <a:endParaRPr lang="en-IN" sz="3600" b="1"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E65AAB1A-EA54-A03B-8E22-15351A7A28CB}"/>
              </a:ext>
            </a:extLst>
          </p:cNvPr>
          <p:cNvSpPr txBox="1"/>
          <p:nvPr/>
        </p:nvSpPr>
        <p:spPr>
          <a:xfrm>
            <a:off x="563880" y="1814195"/>
            <a:ext cx="7985760" cy="2031325"/>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We are pleased to express my gratitude and regards towards my Project Guide Mr. Partha Shankar Nayak, Assistant Professor, Department of Computer Science and Engineering CS &amp; DS, Brainware University, without whose valuable guidance, inspiration and attention towards us, pursuing my project would have been impossible. Last but not the least, We express our  regards towards our friends and families for bearing with us and for being a source of constant motivation during the entire term of the work.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66774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D7B0715-1DCA-4805-F62F-3196A1D8F25A}"/>
              </a:ext>
            </a:extLst>
          </p:cNvPr>
          <p:cNvSpPr>
            <a:spLocks noGrp="1"/>
          </p:cNvSpPr>
          <p:nvPr>
            <p:ph type="sldNum" sz="quarter" idx="12"/>
          </p:nvPr>
        </p:nvSpPr>
        <p:spPr/>
        <p:txBody>
          <a:bodyPr/>
          <a:lstStyle/>
          <a:p>
            <a:fld id="{C1FF6DA9-008F-8B48-92A6-B652298478BF}" type="slidenum">
              <a:rPr lang="en-US" smtClean="0"/>
              <a:t>4</a:t>
            </a:fld>
            <a:endParaRPr lang="en-US"/>
          </a:p>
        </p:txBody>
      </p:sp>
      <p:sp>
        <p:nvSpPr>
          <p:cNvPr id="6" name="TextBox 5">
            <a:extLst>
              <a:ext uri="{FF2B5EF4-FFF2-40B4-BE49-F238E27FC236}">
                <a16:creationId xmlns:a16="http://schemas.microsoft.com/office/drawing/2014/main" id="{2498B0F4-428D-1CC9-8E23-399B945A6A1F}"/>
              </a:ext>
            </a:extLst>
          </p:cNvPr>
          <p:cNvSpPr txBox="1"/>
          <p:nvPr/>
        </p:nvSpPr>
        <p:spPr>
          <a:xfrm>
            <a:off x="2720340" y="448211"/>
            <a:ext cx="3703320" cy="646331"/>
          </a:xfrm>
          <a:prstGeom prst="rect">
            <a:avLst/>
          </a:prstGeom>
          <a:noFill/>
        </p:spPr>
        <p:txBody>
          <a:bodyPr wrap="square" rtlCol="0">
            <a:spAutoFit/>
          </a:bodyPr>
          <a:lstStyle/>
          <a:p>
            <a:pPr algn="ctr"/>
            <a:r>
              <a:rPr lang="en-US" sz="3600" dirty="0">
                <a:latin typeface="Times New Roman" panose="02020603050405020304" pitchFamily="18" charset="0"/>
                <a:cs typeface="Times New Roman" panose="02020603050405020304" pitchFamily="18" charset="0"/>
              </a:rPr>
              <a:t>Content</a:t>
            </a:r>
            <a:endParaRPr lang="en-IN" sz="3600" dirty="0">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92D3DB6A-9599-1B67-53CD-D1801FB925FE}"/>
              </a:ext>
            </a:extLst>
          </p:cNvPr>
          <p:cNvGraphicFramePr>
            <a:graphicFrameLocks noGrp="1"/>
          </p:cNvGraphicFramePr>
          <p:nvPr>
            <p:extLst>
              <p:ext uri="{D42A27DB-BD31-4B8C-83A1-F6EECF244321}">
                <p14:modId xmlns:p14="http://schemas.microsoft.com/office/powerpoint/2010/main" val="1845433717"/>
              </p:ext>
            </p:extLst>
          </p:nvPr>
        </p:nvGraphicFramePr>
        <p:xfrm>
          <a:off x="1783080" y="1808480"/>
          <a:ext cx="7650480" cy="4389120"/>
        </p:xfrm>
        <a:graphic>
          <a:graphicData uri="http://schemas.openxmlformats.org/drawingml/2006/table">
            <a:tbl>
              <a:tblPr firstRow="1" bandRow="1">
                <a:tableStyleId>{5940675A-B579-460E-94D1-54222C63F5DA}</a:tableStyleId>
              </a:tblPr>
              <a:tblGrid>
                <a:gridCol w="3825240">
                  <a:extLst>
                    <a:ext uri="{9D8B030D-6E8A-4147-A177-3AD203B41FA5}">
                      <a16:colId xmlns:a16="http://schemas.microsoft.com/office/drawing/2014/main" val="3369646001"/>
                    </a:ext>
                  </a:extLst>
                </a:gridCol>
                <a:gridCol w="3825240">
                  <a:extLst>
                    <a:ext uri="{9D8B030D-6E8A-4147-A177-3AD203B41FA5}">
                      <a16:colId xmlns:a16="http://schemas.microsoft.com/office/drawing/2014/main" val="1606854620"/>
                    </a:ext>
                  </a:extLst>
                </a:gridCol>
              </a:tblGrid>
              <a:tr h="350097">
                <a:tc>
                  <a:txBody>
                    <a:bodyPr/>
                    <a:lstStyle/>
                    <a:p>
                      <a:pPr algn="l"/>
                      <a:r>
                        <a:rPr lang="en-US" b="1" dirty="0">
                          <a:latin typeface="Times New Roman" panose="02020603050405020304" pitchFamily="18" charset="0"/>
                          <a:cs typeface="Times New Roman" panose="02020603050405020304" pitchFamily="18" charset="0"/>
                        </a:rPr>
                        <a:t>Topic</a:t>
                      </a:r>
                      <a:endParaRPr lang="en-IN" b="1"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a:r>
                        <a:rPr lang="en-US" b="1" dirty="0">
                          <a:latin typeface="Times New Roman" panose="02020603050405020304" pitchFamily="18" charset="0"/>
                          <a:cs typeface="Times New Roman" panose="02020603050405020304" pitchFamily="18" charset="0"/>
                        </a:rPr>
                        <a:t>Slide No.</a:t>
                      </a:r>
                      <a:endParaRPr lang="en-IN" b="1"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47486962"/>
                  </a:ext>
                </a:extLst>
              </a:tr>
              <a:tr h="350097">
                <a:tc>
                  <a:txBody>
                    <a:bodyPr/>
                    <a:lstStyle/>
                    <a:p>
                      <a:r>
                        <a:rPr lang="en-US" dirty="0">
                          <a:latin typeface="Times New Roman" panose="02020603050405020304" pitchFamily="18" charset="0"/>
                          <a:cs typeface="Times New Roman" panose="02020603050405020304" pitchFamily="18" charset="0"/>
                        </a:rPr>
                        <a:t>Introduction………………..</a:t>
                      </a:r>
                      <a:endParaRPr lang="en-IN"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dirty="0">
                          <a:latin typeface="Times New Roman" panose="02020603050405020304" pitchFamily="18" charset="0"/>
                          <a:cs typeface="Times New Roman" panose="02020603050405020304" pitchFamily="18" charset="0"/>
                        </a:rPr>
                        <a:t>5</a:t>
                      </a:r>
                      <a:endParaRPr lang="en-IN"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65666638"/>
                  </a:ext>
                </a:extLst>
              </a:tr>
              <a:tr h="350097">
                <a:tc>
                  <a:txBody>
                    <a:bodyPr/>
                    <a:lstStyle/>
                    <a:p>
                      <a:r>
                        <a:rPr lang="en-US" dirty="0">
                          <a:latin typeface="Times New Roman" panose="02020603050405020304" pitchFamily="18" charset="0"/>
                          <a:cs typeface="Times New Roman" panose="02020603050405020304" pitchFamily="18" charset="0"/>
                        </a:rPr>
                        <a:t>Problem Statement………...</a:t>
                      </a:r>
                      <a:endParaRPr lang="en-IN"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dirty="0">
                          <a:latin typeface="Times New Roman" panose="02020603050405020304" pitchFamily="18" charset="0"/>
                          <a:cs typeface="Times New Roman" panose="02020603050405020304" pitchFamily="18" charset="0"/>
                        </a:rPr>
                        <a:t>6</a:t>
                      </a:r>
                      <a:endParaRPr lang="en-IN"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02429447"/>
                  </a:ext>
                </a:extLst>
              </a:tr>
              <a:tr h="350097">
                <a:tc>
                  <a:txBody>
                    <a:bodyPr/>
                    <a:lstStyle/>
                    <a:p>
                      <a:r>
                        <a:rPr lang="en-US" dirty="0">
                          <a:latin typeface="Times New Roman" panose="02020603050405020304" pitchFamily="18" charset="0"/>
                          <a:cs typeface="Times New Roman" panose="02020603050405020304" pitchFamily="18" charset="0"/>
                        </a:rPr>
                        <a:t>Objective………………......</a:t>
                      </a:r>
                      <a:endParaRPr lang="en-IN"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dirty="0">
                          <a:latin typeface="Times New Roman" panose="02020603050405020304" pitchFamily="18" charset="0"/>
                          <a:cs typeface="Times New Roman" panose="02020603050405020304" pitchFamily="18" charset="0"/>
                        </a:rPr>
                        <a:t>8</a:t>
                      </a:r>
                      <a:endParaRPr lang="en-IN"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26915850"/>
                  </a:ext>
                </a:extLst>
              </a:tr>
              <a:tr h="350097">
                <a:tc>
                  <a:txBody>
                    <a:bodyPr/>
                    <a:lstStyle/>
                    <a:p>
                      <a:r>
                        <a:rPr lang="en-US" dirty="0">
                          <a:latin typeface="Times New Roman" panose="02020603050405020304" pitchFamily="18" charset="0"/>
                          <a:cs typeface="Times New Roman" panose="02020603050405020304" pitchFamily="18" charset="0"/>
                        </a:rPr>
                        <a:t>Workflow………………….</a:t>
                      </a:r>
                      <a:endParaRPr lang="en-IN"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dirty="0">
                          <a:latin typeface="Times New Roman" panose="02020603050405020304" pitchFamily="18" charset="0"/>
                          <a:cs typeface="Times New Roman" panose="02020603050405020304" pitchFamily="18" charset="0"/>
                        </a:rPr>
                        <a:t>10</a:t>
                      </a:r>
                      <a:endParaRPr lang="en-IN"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04143081"/>
                  </a:ext>
                </a:extLst>
              </a:tr>
              <a:tr h="350097">
                <a:tc>
                  <a:txBody>
                    <a:bodyPr/>
                    <a:lstStyle/>
                    <a:p>
                      <a:r>
                        <a:rPr lang="en-US" dirty="0">
                          <a:latin typeface="Times New Roman" panose="02020603050405020304" pitchFamily="18" charset="0"/>
                          <a:cs typeface="Times New Roman" panose="02020603050405020304" pitchFamily="18" charset="0"/>
                        </a:rPr>
                        <a:t>Model Evaluation………….</a:t>
                      </a:r>
                      <a:endParaRPr lang="en-IN"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dirty="0">
                          <a:latin typeface="Times New Roman" panose="02020603050405020304" pitchFamily="18" charset="0"/>
                          <a:cs typeface="Times New Roman" panose="02020603050405020304" pitchFamily="18" charset="0"/>
                        </a:rPr>
                        <a:t>29</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89122084"/>
                  </a:ext>
                </a:extLst>
              </a:tr>
              <a:tr h="350097">
                <a:tc>
                  <a:txBody>
                    <a:bodyPr/>
                    <a:lstStyle/>
                    <a:p>
                      <a:r>
                        <a:rPr lang="en-US" dirty="0">
                          <a:latin typeface="Times New Roman" panose="02020603050405020304" pitchFamily="18" charset="0"/>
                          <a:cs typeface="Times New Roman" panose="02020603050405020304" pitchFamily="18" charset="0"/>
                        </a:rPr>
                        <a:t>Result &amp; Insights…………..</a:t>
                      </a:r>
                      <a:endParaRPr lang="en-IN"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dirty="0">
                          <a:latin typeface="Times New Roman" panose="02020603050405020304" pitchFamily="18" charset="0"/>
                          <a:cs typeface="Times New Roman" panose="02020603050405020304" pitchFamily="18" charset="0"/>
                        </a:rPr>
                        <a:t>23</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83013808"/>
                  </a:ext>
                </a:extLst>
              </a:tr>
              <a:tr h="350097">
                <a:tc>
                  <a:txBody>
                    <a:bodyPr/>
                    <a:lstStyle/>
                    <a:p>
                      <a:r>
                        <a:rPr lang="en-US" dirty="0">
                          <a:latin typeface="Times New Roman" panose="02020603050405020304" pitchFamily="18" charset="0"/>
                          <a:cs typeface="Times New Roman" panose="02020603050405020304" pitchFamily="18" charset="0"/>
                        </a:rPr>
                        <a:t>Challenges…………………</a:t>
                      </a:r>
                      <a:endParaRPr lang="en-IN"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dirty="0">
                          <a:latin typeface="Times New Roman" panose="02020603050405020304" pitchFamily="18" charset="0"/>
                          <a:cs typeface="Times New Roman" panose="02020603050405020304" pitchFamily="18" charset="0"/>
                        </a:rPr>
                        <a:t>24</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66107191"/>
                  </a:ext>
                </a:extLst>
              </a:tr>
              <a:tr h="350097">
                <a:tc>
                  <a:txBody>
                    <a:bodyPr/>
                    <a:lstStyle/>
                    <a:p>
                      <a:r>
                        <a:rPr lang="en-US" dirty="0">
                          <a:latin typeface="Times New Roman" panose="02020603050405020304" pitchFamily="18" charset="0"/>
                          <a:cs typeface="Times New Roman" panose="02020603050405020304" pitchFamily="18" charset="0"/>
                        </a:rPr>
                        <a:t>Future Scope………………</a:t>
                      </a:r>
                      <a:endParaRPr lang="en-IN"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dirty="0">
                          <a:latin typeface="Times New Roman" panose="02020603050405020304" pitchFamily="18" charset="0"/>
                          <a:cs typeface="Times New Roman" panose="02020603050405020304" pitchFamily="18" charset="0"/>
                        </a:rPr>
                        <a:t>25</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46783740"/>
                  </a:ext>
                </a:extLst>
              </a:tr>
              <a:tr h="350097">
                <a:tc>
                  <a:txBody>
                    <a:bodyPr/>
                    <a:lstStyle/>
                    <a:p>
                      <a:r>
                        <a:rPr lang="en-US" dirty="0">
                          <a:latin typeface="Times New Roman" panose="02020603050405020304" pitchFamily="18" charset="0"/>
                          <a:cs typeface="Times New Roman" panose="02020603050405020304" pitchFamily="18" charset="0"/>
                        </a:rPr>
                        <a:t>Conclusion………...............</a:t>
                      </a:r>
                      <a:endParaRPr lang="en-IN"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dirty="0">
                          <a:latin typeface="Times New Roman" panose="02020603050405020304" pitchFamily="18" charset="0"/>
                          <a:cs typeface="Times New Roman" panose="02020603050405020304" pitchFamily="18" charset="0"/>
                        </a:rPr>
                        <a:t>26</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34089731"/>
                  </a:ext>
                </a:extLst>
              </a:tr>
              <a:tr h="350097">
                <a:tc>
                  <a:txBody>
                    <a:bodyPr/>
                    <a:lstStyle/>
                    <a:p>
                      <a:r>
                        <a:rPr lang="en-US" dirty="0">
                          <a:latin typeface="Times New Roman" panose="02020603050405020304" pitchFamily="18" charset="0"/>
                          <a:cs typeface="Times New Roman" panose="02020603050405020304" pitchFamily="18" charset="0"/>
                        </a:rPr>
                        <a:t>References…………………</a:t>
                      </a:r>
                      <a:endParaRPr lang="en-IN"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dirty="0">
                          <a:latin typeface="Times New Roman" panose="02020603050405020304" pitchFamily="18" charset="0"/>
                          <a:cs typeface="Times New Roman" panose="02020603050405020304" pitchFamily="18" charset="0"/>
                        </a:rPr>
                        <a:t>27</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89004535"/>
                  </a:ext>
                </a:extLst>
              </a:tr>
              <a:tr h="350097">
                <a:tc>
                  <a:txBody>
                    <a:bodyPr/>
                    <a:lstStyle/>
                    <a:p>
                      <a:r>
                        <a:rPr lang="en-US" dirty="0">
                          <a:latin typeface="Times New Roman" panose="02020603050405020304" pitchFamily="18" charset="0"/>
                          <a:cs typeface="Times New Roman" panose="02020603050405020304" pitchFamily="18" charset="0"/>
                        </a:rPr>
                        <a:t>Thank You…………………</a:t>
                      </a:r>
                      <a:endParaRPr lang="en-IN"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dirty="0">
                          <a:latin typeface="Times New Roman" panose="02020603050405020304" pitchFamily="18" charset="0"/>
                          <a:cs typeface="Times New Roman" panose="02020603050405020304" pitchFamily="18" charset="0"/>
                        </a:rPr>
                        <a:t>28</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82892412"/>
                  </a:ext>
                </a:extLst>
              </a:tr>
            </a:tbl>
          </a:graphicData>
        </a:graphic>
      </p:graphicFrame>
    </p:spTree>
    <p:extLst>
      <p:ext uri="{BB962C8B-B14F-4D97-AF65-F5344CB8AC3E}">
        <p14:creationId xmlns:p14="http://schemas.microsoft.com/office/powerpoint/2010/main" val="7191015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4695"/>
            <a:ext cx="4497573" cy="769161"/>
          </a:xfrm>
        </p:spPr>
        <p:txBody>
          <a:bodyPr>
            <a:normAutofit/>
          </a:bodyPr>
          <a:lstStyle/>
          <a:p>
            <a:pPr algn="l">
              <a:tabLst>
                <a:tab pos="627063" algn="l"/>
              </a:tabLst>
            </a:pPr>
            <a:r>
              <a:rPr lang="en-IN" sz="3600" dirty="0">
                <a:latin typeface="Times New Roman" panose="02020603050405020304" pitchFamily="18" charset="0"/>
                <a:cs typeface="Times New Roman" panose="02020603050405020304" pitchFamily="18" charset="0"/>
              </a:rPr>
              <a:t>Introduction</a:t>
            </a:r>
            <a:endParaRPr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074737"/>
            <a:ext cx="8229600" cy="4708525"/>
          </a:xfrm>
        </p:spPr>
        <p:txBody>
          <a:bodyPr>
            <a:normAutofit/>
          </a:bodyPr>
          <a:lstStyle/>
          <a:p>
            <a:pPr marL="0" indent="0" algn="just">
              <a:buNone/>
            </a:pPr>
            <a:r>
              <a:rPr lang="en-US" sz="1800" dirty="0">
                <a:latin typeface="Times New Roman" panose="02020603050405020304" pitchFamily="18" charset="0"/>
                <a:cs typeface="Times New Roman" panose="02020603050405020304" pitchFamily="18" charset="0"/>
              </a:rPr>
              <a:t>Social media platforms have significantly transformed global communication over the past two decades. X (formerly Twitter) is one of the most influential real-time social media platforms.</a:t>
            </a:r>
          </a:p>
          <a:p>
            <a:pPr marL="0" indent="0">
              <a:buNone/>
            </a:pPr>
            <a:r>
              <a:rPr lang="en-US" sz="1800" dirty="0">
                <a:latin typeface="Times New Roman" panose="02020603050405020304" pitchFamily="18" charset="0"/>
                <a:cs typeface="Times New Roman" panose="02020603050405020304" pitchFamily="18" charset="0"/>
              </a:rPr>
              <a:t>The platform is widely used for:</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Breaking news</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Political discussions</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Brand marketing</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Public opinion sharing</a:t>
            </a:r>
          </a:p>
          <a:p>
            <a:pPr marL="0" indent="0">
              <a:buNone/>
            </a:pPr>
            <a:r>
              <a:rPr lang="en-US" sz="1800" dirty="0">
                <a:latin typeface="Times New Roman" panose="02020603050405020304" pitchFamily="18" charset="0"/>
                <a:cs typeface="Times New Roman" panose="02020603050405020304" pitchFamily="18" charset="0"/>
              </a:rPr>
              <a:t>Key Features of Twitter/X</a:t>
            </a:r>
          </a:p>
          <a:p>
            <a:pPr marL="731838" indent="-285750"/>
            <a:r>
              <a:rPr lang="en-US" sz="1800" dirty="0">
                <a:latin typeface="Times New Roman" panose="02020603050405020304" pitchFamily="18" charset="0"/>
                <a:cs typeface="Times New Roman" panose="02020603050405020304" pitchFamily="18" charset="0"/>
              </a:rPr>
              <a:t>Real-time posting enables rapid information sharing.</a:t>
            </a:r>
          </a:p>
          <a:p>
            <a:pPr marL="731838" indent="-285750"/>
            <a:r>
              <a:rPr lang="en-US" sz="1800" dirty="0">
                <a:latin typeface="Times New Roman" panose="02020603050405020304" pitchFamily="18" charset="0"/>
                <a:cs typeface="Times New Roman" panose="02020603050405020304" pitchFamily="18" charset="0"/>
              </a:rPr>
              <a:t>Hashtags (#) help organize trends and topics.</a:t>
            </a:r>
          </a:p>
          <a:p>
            <a:pPr marL="731838" indent="-285750"/>
            <a:r>
              <a:rPr lang="en-US" sz="1800" dirty="0">
                <a:latin typeface="Times New Roman" panose="02020603050405020304" pitchFamily="18" charset="0"/>
                <a:cs typeface="Times New Roman" panose="02020603050405020304" pitchFamily="18" charset="0"/>
              </a:rPr>
              <a:t>Engagement metrics such as likes, retweets, and replies measure audience interaction.</a:t>
            </a:r>
          </a:p>
          <a:p>
            <a:pPr marL="731838" indent="-285750"/>
            <a:r>
              <a:rPr lang="en-US" sz="1800" dirty="0">
                <a:latin typeface="Times New Roman" panose="02020603050405020304" pitchFamily="18" charset="0"/>
                <a:cs typeface="Times New Roman" panose="02020603050405020304" pitchFamily="18" charset="0"/>
              </a:rPr>
              <a:t>Public API access supports research and data analysis.</a:t>
            </a:r>
          </a:p>
          <a:p>
            <a:pPr marL="0" indent="0">
              <a:buNone/>
            </a:pPr>
            <a:endParaRPr lang="en-US" dirty="0"/>
          </a:p>
        </p:txBody>
      </p:sp>
      <p:sp>
        <p:nvSpPr>
          <p:cNvPr id="4" name="Slide Number Placeholder 3">
            <a:extLst>
              <a:ext uri="{FF2B5EF4-FFF2-40B4-BE49-F238E27FC236}">
                <a16:creationId xmlns:a16="http://schemas.microsoft.com/office/drawing/2014/main" id="{EA307EB9-3237-564E-A464-F6B0CEA9A898}"/>
              </a:ext>
            </a:extLst>
          </p:cNvPr>
          <p:cNvSpPr>
            <a:spLocks noGrp="1"/>
          </p:cNvSpPr>
          <p:nvPr>
            <p:ph type="sldNum" sz="quarter" idx="12"/>
          </p:nvPr>
        </p:nvSpPr>
        <p:spPr/>
        <p:txBody>
          <a:bodyPr/>
          <a:lstStyle/>
          <a:p>
            <a:fld id="{C1FF6DA9-008F-8B48-92A6-B652298478BF}"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1628" y="0"/>
            <a:ext cx="3721395" cy="1143000"/>
          </a:xfrm>
        </p:spPr>
        <p:txBody>
          <a:bodyPr>
            <a:normAutofit/>
          </a:bodyPr>
          <a:lstStyle/>
          <a:p>
            <a:r>
              <a:rPr sz="3600" dirty="0">
                <a:latin typeface="Times New Roman" panose="02020603050405020304" pitchFamily="18" charset="0"/>
                <a:cs typeface="Times New Roman" panose="02020603050405020304" pitchFamily="18" charset="0"/>
              </a:rPr>
              <a:t>Problem Statement</a:t>
            </a:r>
          </a:p>
        </p:txBody>
      </p:sp>
      <p:sp>
        <p:nvSpPr>
          <p:cNvPr id="3" name="Content Placeholder 2"/>
          <p:cNvSpPr>
            <a:spLocks noGrp="1"/>
          </p:cNvSpPr>
          <p:nvPr>
            <p:ph idx="1"/>
          </p:nvPr>
        </p:nvSpPr>
        <p:spPr>
          <a:xfrm>
            <a:off x="531628" y="1143000"/>
            <a:ext cx="8229600" cy="4525963"/>
          </a:xfrm>
        </p:spPr>
        <p:txBody>
          <a:bodyPr>
            <a:noAutofit/>
          </a:bodyPr>
          <a:lstStyle/>
          <a:p>
            <a:pPr algn="just">
              <a:buFont typeface="+mj-lt"/>
              <a:buAutoNum type="arabicPeriod"/>
            </a:pPr>
            <a:r>
              <a:rPr lang="en-US" sz="1800" dirty="0">
                <a:latin typeface="Times New Roman" panose="02020603050405020304" pitchFamily="18" charset="0"/>
                <a:cs typeface="Times New Roman" panose="02020603050405020304" pitchFamily="18" charset="0"/>
              </a:rPr>
              <a:t>Massive amounts of tweet data are generated daily on X.</a:t>
            </a:r>
          </a:p>
          <a:p>
            <a:pPr algn="just">
              <a:buFont typeface="+mj-lt"/>
              <a:buAutoNum type="arabicPeriod"/>
            </a:pPr>
            <a:r>
              <a:rPr lang="en-US" sz="1800" dirty="0">
                <a:latin typeface="Times New Roman" panose="02020603050405020304" pitchFamily="18" charset="0"/>
                <a:cs typeface="Times New Roman" panose="02020603050405020304" pitchFamily="18" charset="0"/>
              </a:rPr>
              <a:t>Manual analysis of tweets, opinions, and engagement patterns is difficult and time-consuming.</a:t>
            </a:r>
          </a:p>
          <a:p>
            <a:pPr>
              <a:buFont typeface="+mj-lt"/>
              <a:buAutoNum type="arabicPeriod"/>
            </a:pPr>
            <a:r>
              <a:rPr lang="en-US" sz="1800" dirty="0">
                <a:latin typeface="Times New Roman" panose="02020603050405020304" pitchFamily="18" charset="0"/>
                <a:cs typeface="Times New Roman" panose="02020603050405020304" pitchFamily="18" charset="0"/>
              </a:rPr>
              <a:t>Tweet data is unstructured and contains:</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Slang</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Abbreviations</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Emojis</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URLs</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@mentions</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Hashtags</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Multilingual text</a:t>
            </a:r>
          </a:p>
          <a:p>
            <a:pPr>
              <a:buFont typeface="+mj-lt"/>
              <a:buAutoNum type="arabicPeriod"/>
            </a:pPr>
            <a:r>
              <a:rPr lang="en-US" sz="1800" dirty="0">
                <a:latin typeface="Times New Roman" panose="02020603050405020304" pitchFamily="18" charset="0"/>
                <a:cs typeface="Times New Roman" panose="02020603050405020304" pitchFamily="18" charset="0"/>
              </a:rPr>
              <a:t>Identifying public sentiment (positive, negative, neutral) from tweets is challenging.</a:t>
            </a:r>
          </a:p>
          <a:p>
            <a:pPr>
              <a:buFont typeface="+mj-lt"/>
              <a:buAutoNum type="arabicPeriod"/>
            </a:pPr>
            <a:r>
              <a:rPr lang="en-US" sz="1800" dirty="0">
                <a:latin typeface="Times New Roman" panose="02020603050405020304" pitchFamily="18" charset="0"/>
                <a:cs typeface="Times New Roman" panose="02020603050405020304" pitchFamily="18" charset="0"/>
              </a:rPr>
              <a:t>Detecting trending topics and impactful hashtags manually is difficult due to rapidly changing trends.</a:t>
            </a:r>
          </a:p>
        </p:txBody>
      </p:sp>
      <p:sp>
        <p:nvSpPr>
          <p:cNvPr id="4" name="Slide Number Placeholder 3">
            <a:extLst>
              <a:ext uri="{FF2B5EF4-FFF2-40B4-BE49-F238E27FC236}">
                <a16:creationId xmlns:a16="http://schemas.microsoft.com/office/drawing/2014/main" id="{949074D0-0A31-8F49-A43D-9F915342BFBA}"/>
              </a:ext>
            </a:extLst>
          </p:cNvPr>
          <p:cNvSpPr>
            <a:spLocks noGrp="1"/>
          </p:cNvSpPr>
          <p:nvPr>
            <p:ph type="sldNum" sz="quarter" idx="12"/>
          </p:nvPr>
        </p:nvSpPr>
        <p:spPr/>
        <p:txBody>
          <a:bodyPr/>
          <a:lstStyle/>
          <a:p>
            <a:fld id="{C1FF6DA9-008F-8B48-92A6-B652298478BF}"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17C3DB2-67DE-D685-2021-2717289AB441}"/>
              </a:ext>
            </a:extLst>
          </p:cNvPr>
          <p:cNvSpPr txBox="1"/>
          <p:nvPr/>
        </p:nvSpPr>
        <p:spPr>
          <a:xfrm>
            <a:off x="531627" y="1143000"/>
            <a:ext cx="7878725" cy="4108817"/>
          </a:xfrm>
          <a:prstGeom prst="rect">
            <a:avLst/>
          </a:prstGeom>
          <a:noFill/>
        </p:spPr>
        <p:txBody>
          <a:bodyPr wrap="square" rtlCol="0">
            <a:spAutoFit/>
          </a:bodyPr>
          <a:lstStyle/>
          <a:p>
            <a:pPr marL="342900" indent="-342900" algn="just">
              <a:lnSpc>
                <a:spcPct val="150000"/>
              </a:lnSpc>
              <a:buFont typeface="+mj-lt"/>
              <a:buAutoNum type="arabicPeriod" startAt="6"/>
            </a:pPr>
            <a:r>
              <a:rPr lang="en-US" dirty="0">
                <a:latin typeface="Times New Roman" panose="02020603050405020304" pitchFamily="18" charset="0"/>
                <a:cs typeface="Times New Roman" panose="02020603050405020304" pitchFamily="18" charset="0"/>
              </a:rPr>
              <a:t>Businesses and marketers struggle to identify effective content strategies.</a:t>
            </a:r>
          </a:p>
          <a:p>
            <a:pPr marL="342900" indent="-342900" algn="just">
              <a:lnSpc>
                <a:spcPct val="150000"/>
              </a:lnSpc>
              <a:buFont typeface="+mj-lt"/>
              <a:buAutoNum type="arabicPeriod" startAt="6"/>
            </a:pPr>
            <a:r>
              <a:rPr lang="en-US" dirty="0">
                <a:latin typeface="Times New Roman" panose="02020603050405020304" pitchFamily="18" charset="0"/>
                <a:cs typeface="Times New Roman" panose="02020603050405020304" pitchFamily="18" charset="0"/>
              </a:rPr>
              <a:t>Existing systems often analyze sentiment, hashtags, and trends separately rather than in a unified framework.</a:t>
            </a:r>
          </a:p>
          <a:p>
            <a:pPr marL="342900" indent="-342900" algn="just">
              <a:lnSpc>
                <a:spcPct val="150000"/>
              </a:lnSpc>
              <a:buFont typeface="+mj-lt"/>
              <a:buAutoNum type="arabicPeriod" startAt="6"/>
            </a:pPr>
            <a:r>
              <a:rPr lang="en-US" dirty="0">
                <a:latin typeface="Times New Roman" panose="02020603050405020304" pitchFamily="18" charset="0"/>
                <a:cs typeface="Times New Roman" panose="02020603050405020304" pitchFamily="18" charset="0"/>
              </a:rPr>
              <a:t>There is a need for an automated Twitter Data Analytics system to:</a:t>
            </a:r>
          </a:p>
          <a:p>
            <a:pPr marL="800100" lvl="1" indent="-34290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Perform sentiment analysis</a:t>
            </a:r>
          </a:p>
          <a:p>
            <a:pPr marL="800100" lvl="1" indent="-34290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Detect trends</a:t>
            </a:r>
          </a:p>
          <a:p>
            <a:pPr marL="800100" lvl="1" indent="-34290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Analyze hashtags</a:t>
            </a:r>
          </a:p>
          <a:p>
            <a:pPr marL="800100" lvl="1" indent="-34290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Classify tweets using machine learning</a:t>
            </a:r>
          </a:p>
          <a:p>
            <a:pPr marL="800100" lvl="1" indent="-34290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Generate meaningful insights for better decision-making.</a:t>
            </a:r>
          </a:p>
          <a:p>
            <a:pPr algn="just"/>
            <a:endParaRPr lang="en-IN" dirty="0"/>
          </a:p>
        </p:txBody>
      </p:sp>
      <p:sp>
        <p:nvSpPr>
          <p:cNvPr id="6" name="Title 1">
            <a:extLst>
              <a:ext uri="{FF2B5EF4-FFF2-40B4-BE49-F238E27FC236}">
                <a16:creationId xmlns:a16="http://schemas.microsoft.com/office/drawing/2014/main" id="{DF67DF98-0563-802F-CB3D-A4E17E1B13E2}"/>
              </a:ext>
            </a:extLst>
          </p:cNvPr>
          <p:cNvSpPr>
            <a:spLocks noGrp="1"/>
          </p:cNvSpPr>
          <p:nvPr>
            <p:ph type="title"/>
          </p:nvPr>
        </p:nvSpPr>
        <p:spPr>
          <a:xfrm>
            <a:off x="531628" y="0"/>
            <a:ext cx="3721395" cy="1143000"/>
          </a:xfrm>
        </p:spPr>
        <p:txBody>
          <a:bodyPr>
            <a:normAutofit/>
          </a:bodyPr>
          <a:lstStyle/>
          <a:p>
            <a:r>
              <a:rPr sz="3600" dirty="0">
                <a:latin typeface="Times New Roman" panose="02020603050405020304" pitchFamily="18" charset="0"/>
                <a:cs typeface="Times New Roman" panose="02020603050405020304" pitchFamily="18" charset="0"/>
              </a:rPr>
              <a:t>Problem Statement</a:t>
            </a:r>
          </a:p>
        </p:txBody>
      </p:sp>
      <p:sp>
        <p:nvSpPr>
          <p:cNvPr id="2" name="Slide Number Placeholder 1">
            <a:extLst>
              <a:ext uri="{FF2B5EF4-FFF2-40B4-BE49-F238E27FC236}">
                <a16:creationId xmlns:a16="http://schemas.microsoft.com/office/drawing/2014/main" id="{FFFF6864-F5CE-7BE6-1C39-9EC490D0FA89}"/>
              </a:ext>
            </a:extLst>
          </p:cNvPr>
          <p:cNvSpPr>
            <a:spLocks noGrp="1"/>
          </p:cNvSpPr>
          <p:nvPr>
            <p:ph type="sldNum" sz="quarter" idx="12"/>
          </p:nvPr>
        </p:nvSpPr>
        <p:spPr/>
        <p:txBody>
          <a:bodyPr/>
          <a:lstStyle/>
          <a:p>
            <a:fld id="{C1FF6DA9-008F-8B48-92A6-B652298478BF}" type="slidenum">
              <a:rPr lang="en-US" smtClean="0"/>
              <a:t>7</a:t>
            </a:fld>
            <a:endParaRPr lang="en-US"/>
          </a:p>
        </p:txBody>
      </p:sp>
    </p:spTree>
    <p:extLst>
      <p:ext uri="{BB962C8B-B14F-4D97-AF65-F5344CB8AC3E}">
        <p14:creationId xmlns:p14="http://schemas.microsoft.com/office/powerpoint/2010/main" val="34174717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1354"/>
            <a:ext cx="2179674" cy="1143000"/>
          </a:xfrm>
        </p:spPr>
        <p:txBody>
          <a:bodyPr>
            <a:normAutofit/>
          </a:bodyPr>
          <a:lstStyle/>
          <a:p>
            <a:r>
              <a:rPr sz="3600" dirty="0">
                <a:latin typeface="Times New Roman" panose="02020603050405020304" pitchFamily="18" charset="0"/>
                <a:cs typeface="Times New Roman" panose="02020603050405020304" pitchFamily="18" charset="0"/>
              </a:rPr>
              <a:t>Objectives</a:t>
            </a:r>
          </a:p>
        </p:txBody>
      </p:sp>
      <p:sp>
        <p:nvSpPr>
          <p:cNvPr id="5" name="TextBox 4">
            <a:extLst>
              <a:ext uri="{FF2B5EF4-FFF2-40B4-BE49-F238E27FC236}">
                <a16:creationId xmlns:a16="http://schemas.microsoft.com/office/drawing/2014/main" id="{B7D00BEC-9673-5873-E316-D8CB49A89C9C}"/>
              </a:ext>
            </a:extLst>
          </p:cNvPr>
          <p:cNvSpPr txBox="1"/>
          <p:nvPr/>
        </p:nvSpPr>
        <p:spPr>
          <a:xfrm>
            <a:off x="457200" y="1183721"/>
            <a:ext cx="7942521" cy="4247317"/>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The primary objective of this project is to develop an intelligent analytical framework capable of studying engagement patterns on X (formerly Twitter) by examining tweet timing, textual content, and caption characteristics. The system is designed to process large volumes of tweet data efficiently and generate meaningful insights that can support data driven social media strategies.</a:t>
            </a:r>
          </a:p>
          <a:p>
            <a:pPr algn="just"/>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collect, </a:t>
            </a:r>
            <a:r>
              <a:rPr lang="en-US" dirty="0" err="1">
                <a:latin typeface="Times New Roman" panose="02020603050405020304" pitchFamily="18" charset="0"/>
                <a:cs typeface="Times New Roman" panose="02020603050405020304" pitchFamily="18" charset="0"/>
              </a:rPr>
              <a:t>organise</a:t>
            </a:r>
            <a:r>
              <a:rPr lang="en-US" dirty="0">
                <a:latin typeface="Times New Roman" panose="02020603050405020304" pitchFamily="18" charset="0"/>
                <a:cs typeface="Times New Roman" panose="02020603050405020304" pitchFamily="18" charset="0"/>
              </a:rPr>
              <a:t>, and preprocess a large-scale Twitter dataset containing sufficient diversity of topics, sentiment, and temporal distribution to support robust analysis. </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perform accurate sentiment analysis classifying tweets into positive, negative, and neutral categories, achieving satisfactory precision, recall, and F1-score across all classes.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conduct comprehensive time-series analysis on tweet activity, identifying statistically meaningful patterns in posting </a:t>
            </a:r>
            <a:r>
              <a:rPr lang="en-US" dirty="0" err="1">
                <a:latin typeface="Times New Roman" panose="02020603050405020304" pitchFamily="18" charset="0"/>
                <a:cs typeface="Times New Roman" panose="02020603050405020304" pitchFamily="18" charset="0"/>
              </a:rPr>
              <a:t>behaviour</a:t>
            </a:r>
            <a:r>
              <a:rPr lang="en-US" dirty="0">
                <a:latin typeface="Times New Roman" panose="02020603050405020304" pitchFamily="18" charset="0"/>
                <a:cs typeface="Times New Roman" panose="02020603050405020304" pitchFamily="18" charset="0"/>
              </a:rPr>
              <a:t>, peak engagement hours, and 5 temporal engagement distributions.</a:t>
            </a:r>
          </a:p>
        </p:txBody>
      </p:sp>
      <p:sp>
        <p:nvSpPr>
          <p:cNvPr id="3" name="Slide Number Placeholder 2">
            <a:extLst>
              <a:ext uri="{FF2B5EF4-FFF2-40B4-BE49-F238E27FC236}">
                <a16:creationId xmlns:a16="http://schemas.microsoft.com/office/drawing/2014/main" id="{9ED444A2-8111-8D23-96B7-F9B6A24878FF}"/>
              </a:ext>
            </a:extLst>
          </p:cNvPr>
          <p:cNvSpPr>
            <a:spLocks noGrp="1"/>
          </p:cNvSpPr>
          <p:nvPr>
            <p:ph type="sldNum" sz="quarter" idx="12"/>
          </p:nvPr>
        </p:nvSpPr>
        <p:spPr/>
        <p:txBody>
          <a:bodyPr/>
          <a:lstStyle/>
          <a:p>
            <a:fld id="{C1FF6DA9-008F-8B48-92A6-B652298478BF}"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AB171EB-579B-4328-EECC-5FE700083D39}"/>
              </a:ext>
            </a:extLst>
          </p:cNvPr>
          <p:cNvSpPr>
            <a:spLocks noGrp="1"/>
          </p:cNvSpPr>
          <p:nvPr>
            <p:ph type="title"/>
          </p:nvPr>
        </p:nvSpPr>
        <p:spPr>
          <a:xfrm>
            <a:off x="457200" y="51354"/>
            <a:ext cx="2179674" cy="1143000"/>
          </a:xfrm>
        </p:spPr>
        <p:txBody>
          <a:bodyPr>
            <a:normAutofit/>
          </a:bodyPr>
          <a:lstStyle/>
          <a:p>
            <a:r>
              <a:rPr sz="3600" dirty="0">
                <a:latin typeface="Times New Roman" panose="02020603050405020304" pitchFamily="18" charset="0"/>
                <a:cs typeface="Times New Roman" panose="02020603050405020304" pitchFamily="18" charset="0"/>
              </a:rPr>
              <a:t>Objectives</a:t>
            </a:r>
          </a:p>
        </p:txBody>
      </p:sp>
      <p:sp>
        <p:nvSpPr>
          <p:cNvPr id="8" name="TextBox 7">
            <a:extLst>
              <a:ext uri="{FF2B5EF4-FFF2-40B4-BE49-F238E27FC236}">
                <a16:creationId xmlns:a16="http://schemas.microsoft.com/office/drawing/2014/main" id="{18C9FF79-726A-6428-ACD9-61E34510B024}"/>
              </a:ext>
            </a:extLst>
          </p:cNvPr>
          <p:cNvSpPr txBox="1"/>
          <p:nvPr/>
        </p:nvSpPr>
        <p:spPr>
          <a:xfrm>
            <a:off x="425302" y="1383424"/>
            <a:ext cx="7942521" cy="2031325"/>
          </a:xfrm>
          <a:prstGeom prst="rect">
            <a:avLst/>
          </a:prstGeom>
          <a:noFill/>
        </p:spPr>
        <p:txBody>
          <a:bodyPr wrap="square" rtlCol="0">
            <a:spAutoFit/>
          </a:bodyPr>
          <a:lstStyle/>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build a content recommendation system that retrieves and presents contextually relevant tweet content, suggested hashtags, and optimal posting times.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identifying the most effective posting times and days for maximizing audience engagement, likes, shares, comments, and tweet visibility.</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create meaningful </a:t>
            </a:r>
            <a:r>
              <a:rPr lang="en-US" dirty="0" err="1">
                <a:latin typeface="Times New Roman" panose="02020603050405020304" pitchFamily="18" charset="0"/>
                <a:cs typeface="Times New Roman" panose="02020603050405020304" pitchFamily="18" charset="0"/>
              </a:rPr>
              <a:t>visualisations</a:t>
            </a:r>
            <a:r>
              <a:rPr lang="en-US" dirty="0">
                <a:latin typeface="Times New Roman" panose="02020603050405020304" pitchFamily="18" charset="0"/>
                <a:cs typeface="Times New Roman" panose="02020603050405020304" pitchFamily="18" charset="0"/>
              </a:rPr>
              <a:t> of all analytical outputs, including sentiment distributions, trend analyses, temporal patterns, and model performance metrics. </a:t>
            </a:r>
          </a:p>
        </p:txBody>
      </p:sp>
      <p:sp>
        <p:nvSpPr>
          <p:cNvPr id="2" name="Slide Number Placeholder 1">
            <a:extLst>
              <a:ext uri="{FF2B5EF4-FFF2-40B4-BE49-F238E27FC236}">
                <a16:creationId xmlns:a16="http://schemas.microsoft.com/office/drawing/2014/main" id="{BD49C441-B85F-4284-1A45-6C27448AF1D7}"/>
              </a:ext>
            </a:extLst>
          </p:cNvPr>
          <p:cNvSpPr>
            <a:spLocks noGrp="1"/>
          </p:cNvSpPr>
          <p:nvPr>
            <p:ph type="sldNum" sz="quarter" idx="12"/>
          </p:nvPr>
        </p:nvSpPr>
        <p:spPr/>
        <p:txBody>
          <a:bodyPr/>
          <a:lstStyle/>
          <a:p>
            <a:fld id="{C1FF6DA9-008F-8B48-92A6-B652298478BF}" type="slidenum">
              <a:rPr lang="en-US" smtClean="0"/>
              <a:t>9</a:t>
            </a:fld>
            <a:endParaRPr lang="en-US"/>
          </a:p>
        </p:txBody>
      </p:sp>
    </p:spTree>
    <p:extLst>
      <p:ext uri="{BB962C8B-B14F-4D97-AF65-F5344CB8AC3E}">
        <p14:creationId xmlns:p14="http://schemas.microsoft.com/office/powerpoint/2010/main" val="41800989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0"/>
            <a:ext cx="8229600" cy="1143000"/>
          </a:xfrm>
        </p:spPr>
        <p:txBody>
          <a:bodyPr>
            <a:normAutofit/>
          </a:bodyPr>
          <a:lstStyle/>
          <a:p>
            <a:pPr algn="l"/>
            <a:r>
              <a:rPr sz="3600" dirty="0">
                <a:latin typeface="Times New Roman" panose="02020603050405020304" pitchFamily="18" charset="0"/>
                <a:cs typeface="Times New Roman" panose="02020603050405020304" pitchFamily="18" charset="0"/>
              </a:rPr>
              <a:t>Workflow</a:t>
            </a:r>
          </a:p>
        </p:txBody>
      </p:sp>
      <p:pic>
        <p:nvPicPr>
          <p:cNvPr id="6" name="Picture 5">
            <a:extLst>
              <a:ext uri="{FF2B5EF4-FFF2-40B4-BE49-F238E27FC236}">
                <a16:creationId xmlns:a16="http://schemas.microsoft.com/office/drawing/2014/main" id="{B7BD47F1-9FCB-2CCE-D687-AB785CF2A5C5}"/>
              </a:ext>
            </a:extLst>
          </p:cNvPr>
          <p:cNvPicPr>
            <a:picLocks noChangeAspect="1"/>
          </p:cNvPicPr>
          <p:nvPr/>
        </p:nvPicPr>
        <p:blipFill>
          <a:blip r:embed="rId2"/>
          <a:stretch>
            <a:fillRect/>
          </a:stretch>
        </p:blipFill>
        <p:spPr>
          <a:xfrm>
            <a:off x="95692" y="1025508"/>
            <a:ext cx="8952614" cy="4806983"/>
          </a:xfrm>
          <a:prstGeom prst="rect">
            <a:avLst/>
          </a:prstGeom>
        </p:spPr>
      </p:pic>
      <p:sp>
        <p:nvSpPr>
          <p:cNvPr id="3" name="Slide Number Placeholder 2">
            <a:extLst>
              <a:ext uri="{FF2B5EF4-FFF2-40B4-BE49-F238E27FC236}">
                <a16:creationId xmlns:a16="http://schemas.microsoft.com/office/drawing/2014/main" id="{52F542BA-B624-72A4-1168-B00CC21105C1}"/>
              </a:ext>
            </a:extLst>
          </p:cNvPr>
          <p:cNvSpPr>
            <a:spLocks noGrp="1"/>
          </p:cNvSpPr>
          <p:nvPr>
            <p:ph type="sldNum" sz="quarter" idx="12"/>
          </p:nvPr>
        </p:nvSpPr>
        <p:spPr/>
        <p:txBody>
          <a:bodyPr/>
          <a:lstStyle/>
          <a:p>
            <a:fld id="{C1FF6DA9-008F-8B48-92A6-B652298478BF}"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E02A003-63C0-B6A1-5138-6FED95169E0F}"/>
              </a:ext>
            </a:extLst>
          </p:cNvPr>
          <p:cNvSpPr txBox="1"/>
          <p:nvPr/>
        </p:nvSpPr>
        <p:spPr>
          <a:xfrm>
            <a:off x="457198" y="1137684"/>
            <a:ext cx="8038215" cy="5078313"/>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1. Data Collection</a:t>
            </a:r>
          </a:p>
          <a:p>
            <a:r>
              <a:rPr lang="en-US" dirty="0">
                <a:latin typeface="Times New Roman" panose="02020603050405020304" pitchFamily="18" charset="0"/>
                <a:cs typeface="Times New Roman" panose="02020603050405020304" pitchFamily="18" charset="0"/>
              </a:rPr>
              <a:t>Collect tweets using Twitter/X API along with likes, retweets, replies, hashtags, and timestamps.</a:t>
            </a:r>
          </a:p>
          <a:p>
            <a:endParaRPr lang="en-US" dirty="0">
              <a:latin typeface="Times New Roman" panose="02020603050405020304" pitchFamily="18" charset="0"/>
              <a:cs typeface="Times New Roman" panose="02020603050405020304" pitchFamily="18" charset="0"/>
            </a:endParaRPr>
          </a:p>
          <a:p>
            <a:pPr marL="828675" indent="-285750">
              <a:buFont typeface="Arial" panose="020B0604020202020204" pitchFamily="34" charset="0"/>
              <a:buChar char="•"/>
              <a:defRPr sz="1800"/>
            </a:pPr>
            <a:r>
              <a:rPr lang="en-US" dirty="0">
                <a:latin typeface="Times New Roman" panose="02020603050405020304" pitchFamily="18" charset="0"/>
                <a:cs typeface="Times New Roman" panose="02020603050405020304" pitchFamily="18" charset="0"/>
              </a:rPr>
              <a:t>Source: Kaggle Twitter/X Dataset</a:t>
            </a:r>
          </a:p>
          <a:p>
            <a:pPr marL="828675" indent="-285750">
              <a:buFont typeface="Arial" panose="020B0604020202020204" pitchFamily="34" charset="0"/>
              <a:buChar char="•"/>
              <a:defRPr sz="1800"/>
            </a:pPr>
            <a:r>
              <a:rPr lang="en-US" dirty="0">
                <a:latin typeface="Times New Roman" panose="02020603050405020304" pitchFamily="18" charset="0"/>
                <a:cs typeface="Times New Roman" panose="02020603050405020304" pitchFamily="18" charset="0"/>
              </a:rPr>
              <a:t>54,091 tweets with 22 attributes</a:t>
            </a:r>
          </a:p>
          <a:p>
            <a:pPr marL="828675" indent="-285750">
              <a:buFont typeface="Arial" panose="020B0604020202020204" pitchFamily="34" charset="0"/>
              <a:buChar char="•"/>
              <a:defRPr sz="1800"/>
            </a:pPr>
            <a:r>
              <a:rPr lang="en-US" dirty="0">
                <a:latin typeface="Times New Roman" panose="02020603050405020304" pitchFamily="18" charset="0"/>
                <a:cs typeface="Times New Roman" panose="02020603050405020304" pitchFamily="18" charset="0"/>
              </a:rPr>
              <a:t>Includes likes, retweets, hashtags and datetime</a:t>
            </a:r>
          </a:p>
          <a:p>
            <a:pPr marL="828675" indent="-285750">
              <a:buFont typeface="Arial" panose="020B0604020202020204" pitchFamily="34" charset="0"/>
              <a:buChar char="•"/>
              <a:defRPr sz="1800"/>
            </a:pPr>
            <a:r>
              <a:rPr lang="en-US" dirty="0">
                <a:latin typeface="Times New Roman" panose="02020603050405020304" pitchFamily="18" charset="0"/>
                <a:cs typeface="Times New Roman" panose="02020603050405020304" pitchFamily="18" charset="0"/>
              </a:rPr>
              <a:t>Contains structured &amp; unstructured data</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2. Data Preprocessing</a:t>
            </a:r>
          </a:p>
          <a:p>
            <a:r>
              <a:rPr lang="en-US" dirty="0">
                <a:latin typeface="Times New Roman" panose="02020603050405020304" pitchFamily="18" charset="0"/>
                <a:cs typeface="Times New Roman" panose="02020603050405020304" pitchFamily="18" charset="0"/>
              </a:rPr>
              <a:t>Clean the collected data by removing URLs, emojis, special characters, and stop words.</a:t>
            </a:r>
          </a:p>
          <a:p>
            <a:pPr marL="808038" indent="-285750">
              <a:buFont typeface="Arial" panose="020B0604020202020204" pitchFamily="34" charset="0"/>
              <a:buChar char="•"/>
              <a:tabLst>
                <a:tab pos="893763" algn="l"/>
              </a:tabLst>
            </a:pPr>
            <a:r>
              <a:rPr lang="en-IN" dirty="0">
                <a:latin typeface="Times New Roman" panose="02020603050405020304" pitchFamily="18" charset="0"/>
                <a:cs typeface="Times New Roman" panose="02020603050405020304" pitchFamily="18" charset="0"/>
              </a:rPr>
              <a:t>Missing Value Handling: Complete records for Text and Datetime columns</a:t>
            </a:r>
          </a:p>
          <a:p>
            <a:pPr marL="808038" indent="-285750">
              <a:buFont typeface="Arial" panose="020B0604020202020204" pitchFamily="34" charset="0"/>
              <a:buChar char="•"/>
              <a:tabLst>
                <a:tab pos="893763" algn="l"/>
              </a:tabLst>
            </a:pPr>
            <a:r>
              <a:rPr lang="en-IN" dirty="0">
                <a:latin typeface="Times New Roman" panose="02020603050405020304" pitchFamily="18" charset="0"/>
                <a:cs typeface="Times New Roman" panose="02020603050405020304" pitchFamily="18" charset="0"/>
              </a:rPr>
              <a:t>Text Cleaning: Noise-free, lowercased tweet text</a:t>
            </a:r>
          </a:p>
          <a:p>
            <a:pPr marL="808038" indent="-285750">
              <a:buFont typeface="Arial" panose="020B0604020202020204" pitchFamily="34" charset="0"/>
              <a:buChar char="•"/>
              <a:tabLst>
                <a:tab pos="893763" algn="l"/>
              </a:tabLst>
            </a:pPr>
            <a:r>
              <a:rPr lang="en-IN" dirty="0" err="1">
                <a:latin typeface="Times New Roman" panose="02020603050405020304" pitchFamily="18" charset="0"/>
                <a:cs typeface="Times New Roman" panose="02020603050405020304" pitchFamily="18" charset="0"/>
              </a:rPr>
              <a:t>Stopword</a:t>
            </a:r>
            <a:r>
              <a:rPr lang="en-IN" dirty="0">
                <a:latin typeface="Times New Roman" panose="02020603050405020304" pitchFamily="18" charset="0"/>
                <a:cs typeface="Times New Roman" panose="02020603050405020304" pitchFamily="18" charset="0"/>
              </a:rPr>
              <a:t> Removal &amp; Tokenisation: Meaningful keyword tokens per tweet</a:t>
            </a:r>
          </a:p>
          <a:p>
            <a:pPr marL="808038" indent="-285750">
              <a:buFont typeface="Arial" panose="020B0604020202020204" pitchFamily="34" charset="0"/>
              <a:buChar char="•"/>
              <a:tabLst>
                <a:tab pos="893763" algn="l"/>
              </a:tabLst>
            </a:pPr>
            <a:r>
              <a:rPr lang="en-IN" dirty="0">
                <a:latin typeface="Times New Roman" panose="02020603050405020304" pitchFamily="18" charset="0"/>
                <a:cs typeface="Times New Roman" panose="02020603050405020304" pitchFamily="18" charset="0"/>
              </a:rPr>
              <a:t>Datetime Processing: Standardised timestamps with Hour and </a:t>
            </a:r>
            <a:r>
              <a:rPr lang="en-IN" dirty="0" err="1">
                <a:latin typeface="Times New Roman" panose="02020603050405020304" pitchFamily="18" charset="0"/>
                <a:cs typeface="Times New Roman" panose="02020603050405020304" pitchFamily="18" charset="0"/>
              </a:rPr>
              <a:t>DayOfWeek</a:t>
            </a:r>
            <a:r>
              <a:rPr lang="en-IN" dirty="0">
                <a:latin typeface="Times New Roman" panose="02020603050405020304" pitchFamily="18" charset="0"/>
                <a:cs typeface="Times New Roman" panose="02020603050405020304" pitchFamily="18" charset="0"/>
              </a:rPr>
              <a:t> features </a:t>
            </a:r>
          </a:p>
          <a:p>
            <a:endParaRPr lang="en-IN" dirty="0">
              <a:latin typeface="Times New Roman" panose="02020603050405020304" pitchFamily="18" charset="0"/>
              <a:cs typeface="Times New Roman" panose="02020603050405020304" pitchFamily="18" charset="0"/>
            </a:endParaRPr>
          </a:p>
        </p:txBody>
      </p:sp>
      <p:sp>
        <p:nvSpPr>
          <p:cNvPr id="8" name="Title 1">
            <a:extLst>
              <a:ext uri="{FF2B5EF4-FFF2-40B4-BE49-F238E27FC236}">
                <a16:creationId xmlns:a16="http://schemas.microsoft.com/office/drawing/2014/main" id="{8B8E4FAE-A276-AA0F-1341-A9D0E480EDEB}"/>
              </a:ext>
            </a:extLst>
          </p:cNvPr>
          <p:cNvSpPr>
            <a:spLocks noGrp="1"/>
          </p:cNvSpPr>
          <p:nvPr>
            <p:ph type="title"/>
          </p:nvPr>
        </p:nvSpPr>
        <p:spPr>
          <a:xfrm>
            <a:off x="457199" y="0"/>
            <a:ext cx="8229600" cy="1143000"/>
          </a:xfrm>
        </p:spPr>
        <p:txBody>
          <a:bodyPr>
            <a:normAutofit/>
          </a:bodyPr>
          <a:lstStyle/>
          <a:p>
            <a:pPr algn="l"/>
            <a:r>
              <a:rPr sz="3600" dirty="0">
                <a:latin typeface="Times New Roman" panose="02020603050405020304" pitchFamily="18" charset="0"/>
                <a:cs typeface="Times New Roman" panose="02020603050405020304" pitchFamily="18" charset="0"/>
              </a:rPr>
              <a:t>Workflow</a:t>
            </a:r>
          </a:p>
        </p:txBody>
      </p:sp>
      <p:sp>
        <p:nvSpPr>
          <p:cNvPr id="2" name="Slide Number Placeholder 1">
            <a:extLst>
              <a:ext uri="{FF2B5EF4-FFF2-40B4-BE49-F238E27FC236}">
                <a16:creationId xmlns:a16="http://schemas.microsoft.com/office/drawing/2014/main" id="{69C0B6E1-3AB3-01D4-E4B1-45F1C56DFCE3}"/>
              </a:ext>
            </a:extLst>
          </p:cNvPr>
          <p:cNvSpPr>
            <a:spLocks noGrp="1"/>
          </p:cNvSpPr>
          <p:nvPr>
            <p:ph type="sldNum" sz="quarter" idx="12"/>
          </p:nvPr>
        </p:nvSpPr>
        <p:spPr/>
        <p:txBody>
          <a:bodyPr/>
          <a:lstStyle/>
          <a:p>
            <a:fld id="{C1FF6DA9-008F-8B48-92A6-B652298478BF}" type="slidenum">
              <a:rPr lang="en-US" smtClean="0"/>
              <a:t>11</a:t>
            </a:fld>
            <a:endParaRPr lang="en-US"/>
          </a:p>
        </p:txBody>
      </p:sp>
    </p:spTree>
    <p:extLst>
      <p:ext uri="{BB962C8B-B14F-4D97-AF65-F5344CB8AC3E}">
        <p14:creationId xmlns:p14="http://schemas.microsoft.com/office/powerpoint/2010/main" val="13355804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E5C12AB-0EC2-B4D3-CEDF-25EBD21D3DE8}"/>
              </a:ext>
            </a:extLst>
          </p:cNvPr>
          <p:cNvSpPr txBox="1"/>
          <p:nvPr/>
        </p:nvSpPr>
        <p:spPr>
          <a:xfrm>
            <a:off x="457199" y="845289"/>
            <a:ext cx="8102010" cy="3416320"/>
          </a:xfrm>
          <a:prstGeom prst="rect">
            <a:avLst/>
          </a:prstGeom>
          <a:noFill/>
        </p:spPr>
        <p:txBody>
          <a:bodyPr wrap="square" rtlCol="0">
            <a:spAutoFit/>
          </a:bodyPr>
          <a:lstStyle/>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3. Feature Extraction</a:t>
            </a:r>
          </a:p>
          <a:p>
            <a:r>
              <a:rPr lang="en-US" dirty="0">
                <a:latin typeface="Times New Roman" panose="02020603050405020304" pitchFamily="18" charset="0"/>
                <a:cs typeface="Times New Roman" panose="02020603050405020304" pitchFamily="18" charset="0"/>
              </a:rPr>
              <a:t>Extract important features such as hashtags, keywords.</a:t>
            </a:r>
          </a:p>
          <a:p>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Textual Feature Extraction using TF-IDF: The project uses TF-IDF (Term Frequency–Inverse Document Frequency) for extracting important textual features such as keywords, hashtags, and frequently occurring words from tweets.</a:t>
            </a:r>
          </a:p>
          <a:p>
            <a:pPr algn="just"/>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Sentiment Feature Extraction using NLP: </a:t>
            </a:r>
            <a:r>
              <a:rPr lang="en-IN" dirty="0">
                <a:latin typeface="Times New Roman" panose="02020603050405020304" pitchFamily="18" charset="0"/>
                <a:cs typeface="Times New Roman" panose="02020603050405020304" pitchFamily="18" charset="0"/>
              </a:rPr>
              <a:t>Sentiment Label Generation </a:t>
            </a:r>
            <a:r>
              <a:rPr lang="en-IN" dirty="0" err="1">
                <a:latin typeface="Times New Roman" panose="02020603050405020304" pitchFamily="18" charset="0"/>
                <a:cs typeface="Times New Roman" panose="02020603050405020304" pitchFamily="18" charset="0"/>
              </a:rPr>
              <a:t>Actual_Sentiment</a:t>
            </a:r>
            <a:r>
              <a:rPr lang="en-IN" dirty="0">
                <a:latin typeface="Times New Roman" panose="02020603050405020304" pitchFamily="18" charset="0"/>
                <a:cs typeface="Times New Roman" panose="02020603050405020304" pitchFamily="18" charset="0"/>
              </a:rPr>
              <a:t> column (Positive/Negative/Neutral)</a:t>
            </a:r>
            <a:endParaRPr lang="en-US" dirty="0">
              <a:latin typeface="Times New Roman" panose="02020603050405020304" pitchFamily="18" charset="0"/>
              <a:cs typeface="Times New Roman" panose="02020603050405020304" pitchFamily="18" charset="0"/>
            </a:endParaRPr>
          </a:p>
          <a:p>
            <a:br>
              <a:rPr lang="en-US" dirty="0">
                <a:latin typeface="Times New Roman" panose="02020603050405020304" pitchFamily="18" charset="0"/>
                <a:cs typeface="Times New Roman" panose="02020603050405020304" pitchFamily="18" charset="0"/>
              </a:rPr>
            </a:br>
            <a:endParaRPr lang="en-IN" dirty="0"/>
          </a:p>
        </p:txBody>
      </p:sp>
      <p:sp>
        <p:nvSpPr>
          <p:cNvPr id="5" name="Title 1">
            <a:extLst>
              <a:ext uri="{FF2B5EF4-FFF2-40B4-BE49-F238E27FC236}">
                <a16:creationId xmlns:a16="http://schemas.microsoft.com/office/drawing/2014/main" id="{99DAE1B2-CE79-0507-9B2C-B71BD74C61C0}"/>
              </a:ext>
            </a:extLst>
          </p:cNvPr>
          <p:cNvSpPr>
            <a:spLocks noGrp="1"/>
          </p:cNvSpPr>
          <p:nvPr>
            <p:ph type="title"/>
          </p:nvPr>
        </p:nvSpPr>
        <p:spPr>
          <a:xfrm>
            <a:off x="457201" y="0"/>
            <a:ext cx="8229600" cy="1143000"/>
          </a:xfrm>
        </p:spPr>
        <p:txBody>
          <a:bodyPr>
            <a:normAutofit/>
          </a:bodyPr>
          <a:lstStyle/>
          <a:p>
            <a:pPr algn="l"/>
            <a:r>
              <a:rPr sz="3600" dirty="0">
                <a:latin typeface="Times New Roman" panose="02020603050405020304" pitchFamily="18" charset="0"/>
                <a:cs typeface="Times New Roman" panose="02020603050405020304" pitchFamily="18" charset="0"/>
              </a:rPr>
              <a:t>Workflow</a:t>
            </a:r>
          </a:p>
        </p:txBody>
      </p:sp>
      <p:sp>
        <p:nvSpPr>
          <p:cNvPr id="2" name="Slide Number Placeholder 1">
            <a:extLst>
              <a:ext uri="{FF2B5EF4-FFF2-40B4-BE49-F238E27FC236}">
                <a16:creationId xmlns:a16="http://schemas.microsoft.com/office/drawing/2014/main" id="{94FAC9CB-3420-9539-89B6-7F3533E70C78}"/>
              </a:ext>
            </a:extLst>
          </p:cNvPr>
          <p:cNvSpPr>
            <a:spLocks noGrp="1"/>
          </p:cNvSpPr>
          <p:nvPr>
            <p:ph type="sldNum" sz="quarter" idx="12"/>
          </p:nvPr>
        </p:nvSpPr>
        <p:spPr/>
        <p:txBody>
          <a:bodyPr/>
          <a:lstStyle/>
          <a:p>
            <a:fld id="{C1FF6DA9-008F-8B48-92A6-B652298478BF}" type="slidenum">
              <a:rPr lang="en-US" smtClean="0"/>
              <a:t>12</a:t>
            </a:fld>
            <a:endParaRPr lang="en-US"/>
          </a:p>
        </p:txBody>
      </p:sp>
    </p:spTree>
    <p:extLst>
      <p:ext uri="{BB962C8B-B14F-4D97-AF65-F5344CB8AC3E}">
        <p14:creationId xmlns:p14="http://schemas.microsoft.com/office/powerpoint/2010/main" val="22252590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2D63941-B86A-3535-B56E-5FEE549E29F1}"/>
              </a:ext>
            </a:extLst>
          </p:cNvPr>
          <p:cNvSpPr>
            <a:spLocks noGrp="1"/>
          </p:cNvSpPr>
          <p:nvPr>
            <p:ph type="title"/>
          </p:nvPr>
        </p:nvSpPr>
        <p:spPr>
          <a:xfrm>
            <a:off x="457201" y="0"/>
            <a:ext cx="8229600" cy="1143000"/>
          </a:xfrm>
        </p:spPr>
        <p:txBody>
          <a:bodyPr>
            <a:normAutofit/>
          </a:bodyPr>
          <a:lstStyle/>
          <a:p>
            <a:pPr algn="l"/>
            <a:r>
              <a:rPr sz="3600" dirty="0">
                <a:latin typeface="Times New Roman" panose="02020603050405020304" pitchFamily="18" charset="0"/>
                <a:cs typeface="Times New Roman" panose="02020603050405020304" pitchFamily="18" charset="0"/>
              </a:rPr>
              <a:t>Workflow</a:t>
            </a:r>
          </a:p>
        </p:txBody>
      </p:sp>
      <p:sp>
        <p:nvSpPr>
          <p:cNvPr id="10" name="TextBox 9">
            <a:extLst>
              <a:ext uri="{FF2B5EF4-FFF2-40B4-BE49-F238E27FC236}">
                <a16:creationId xmlns:a16="http://schemas.microsoft.com/office/drawing/2014/main" id="{78296261-39B6-CB59-11A2-A0D8CD07A638}"/>
              </a:ext>
            </a:extLst>
          </p:cNvPr>
          <p:cNvSpPr txBox="1"/>
          <p:nvPr/>
        </p:nvSpPr>
        <p:spPr>
          <a:xfrm>
            <a:off x="457199" y="1025715"/>
            <a:ext cx="7899990" cy="5078313"/>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4. Exploratory Data Analysis (EDA)</a:t>
            </a:r>
          </a:p>
          <a:p>
            <a:r>
              <a:rPr lang="en-US" dirty="0">
                <a:latin typeface="Times New Roman" panose="02020603050405020304" pitchFamily="18" charset="0"/>
                <a:cs typeface="Times New Roman" panose="02020603050405020304" pitchFamily="18" charset="0"/>
              </a:rPr>
              <a:t>Analyze tweet patterns, trends, distributions, and user engagement visually.</a:t>
            </a:r>
          </a:p>
          <a:p>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4.1 Sentiment Distribution Analysis: </a:t>
            </a:r>
            <a:r>
              <a:rPr lang="en-US" dirty="0">
                <a:latin typeface="Times New Roman" panose="02020603050405020304" pitchFamily="18" charset="0"/>
                <a:cs typeface="Times New Roman" panose="02020603050405020304" pitchFamily="18" charset="0"/>
              </a:rPr>
              <a:t>The first EDA task examines the overall distribution of sentiment across the dataset. After applying </a:t>
            </a:r>
            <a:r>
              <a:rPr lang="en-US" dirty="0" err="1">
                <a:latin typeface="Times New Roman" panose="02020603050405020304" pitchFamily="18" charset="0"/>
                <a:cs typeface="Times New Roman" panose="02020603050405020304" pitchFamily="18" charset="0"/>
              </a:rPr>
              <a:t>TextBlob</a:t>
            </a:r>
            <a:r>
              <a:rPr lang="en-US" dirty="0">
                <a:latin typeface="Times New Roman" panose="02020603050405020304" pitchFamily="18" charset="0"/>
                <a:cs typeface="Times New Roman" panose="02020603050405020304" pitchFamily="18" charset="0"/>
              </a:rPr>
              <a:t> sentiment classification to all 54,091 tweets, the distribution was computed and </a:t>
            </a:r>
            <a:r>
              <a:rPr lang="en-US" dirty="0" err="1">
                <a:latin typeface="Times New Roman" panose="02020603050405020304" pitchFamily="18" charset="0"/>
                <a:cs typeface="Times New Roman" panose="02020603050405020304" pitchFamily="18" charset="0"/>
              </a:rPr>
              <a:t>visualised</a:t>
            </a:r>
            <a:r>
              <a:rPr lang="en-US" dirty="0">
                <a:latin typeface="Times New Roman" panose="02020603050405020304" pitchFamily="18" charset="0"/>
                <a:cs typeface="Times New Roman" panose="02020603050405020304" pitchFamily="18" charset="0"/>
              </a:rPr>
              <a:t> as a bar chart. </a:t>
            </a: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Sentiment:</a:t>
            </a:r>
          </a:p>
          <a:p>
            <a:r>
              <a:rPr lang="en-US" dirty="0">
                <a:latin typeface="Times New Roman" panose="02020603050405020304" pitchFamily="18" charset="0"/>
                <a:cs typeface="Times New Roman" panose="02020603050405020304" pitchFamily="18" charset="0"/>
              </a:rPr>
              <a:t>Neutral     29772</a:t>
            </a:r>
          </a:p>
          <a:p>
            <a:r>
              <a:rPr lang="en-US" dirty="0">
                <a:latin typeface="Times New Roman" panose="02020603050405020304" pitchFamily="18" charset="0"/>
                <a:cs typeface="Times New Roman" panose="02020603050405020304" pitchFamily="18" charset="0"/>
              </a:rPr>
              <a:t>Positive    17911</a:t>
            </a:r>
          </a:p>
          <a:p>
            <a:r>
              <a:rPr lang="en-US" dirty="0">
                <a:latin typeface="Times New Roman" panose="02020603050405020304" pitchFamily="18" charset="0"/>
                <a:cs typeface="Times New Roman" panose="02020603050405020304" pitchFamily="18" charset="0"/>
              </a:rPr>
              <a:t>Negative     6412</a:t>
            </a:r>
          </a:p>
          <a:p>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BD7BB5FA-51D0-7EA9-2E3C-B797C593C89A}"/>
              </a:ext>
            </a:extLst>
          </p:cNvPr>
          <p:cNvPicPr>
            <a:picLocks noChangeAspect="1"/>
          </p:cNvPicPr>
          <p:nvPr/>
        </p:nvPicPr>
        <p:blipFill>
          <a:blip r:embed="rId2"/>
          <a:stretch>
            <a:fillRect/>
          </a:stretch>
        </p:blipFill>
        <p:spPr>
          <a:xfrm>
            <a:off x="3829321" y="2748516"/>
            <a:ext cx="4527868" cy="3866753"/>
          </a:xfrm>
          <a:prstGeom prst="rect">
            <a:avLst/>
          </a:prstGeom>
        </p:spPr>
      </p:pic>
      <p:sp>
        <p:nvSpPr>
          <p:cNvPr id="2" name="Slide Number Placeholder 1">
            <a:extLst>
              <a:ext uri="{FF2B5EF4-FFF2-40B4-BE49-F238E27FC236}">
                <a16:creationId xmlns:a16="http://schemas.microsoft.com/office/drawing/2014/main" id="{042D21E6-5C0C-DBF6-D36E-498B7659480B}"/>
              </a:ext>
            </a:extLst>
          </p:cNvPr>
          <p:cNvSpPr>
            <a:spLocks noGrp="1"/>
          </p:cNvSpPr>
          <p:nvPr>
            <p:ph type="sldNum" sz="quarter" idx="12"/>
          </p:nvPr>
        </p:nvSpPr>
        <p:spPr/>
        <p:txBody>
          <a:bodyPr/>
          <a:lstStyle/>
          <a:p>
            <a:fld id="{C1FF6DA9-008F-8B48-92A6-B652298478BF}" type="slidenum">
              <a:rPr lang="en-US" smtClean="0"/>
              <a:t>13</a:t>
            </a:fld>
            <a:endParaRPr lang="en-US"/>
          </a:p>
        </p:txBody>
      </p:sp>
    </p:spTree>
    <p:extLst>
      <p:ext uri="{BB962C8B-B14F-4D97-AF65-F5344CB8AC3E}">
        <p14:creationId xmlns:p14="http://schemas.microsoft.com/office/powerpoint/2010/main" val="9897588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10F01B5-953E-1FAB-324C-457438E46FFD}"/>
              </a:ext>
            </a:extLst>
          </p:cNvPr>
          <p:cNvSpPr txBox="1"/>
          <p:nvPr/>
        </p:nvSpPr>
        <p:spPr>
          <a:xfrm>
            <a:off x="308344" y="1842213"/>
            <a:ext cx="4348716" cy="2031325"/>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Hashtag Detection Hashtags are the primary </a:t>
            </a:r>
            <a:r>
              <a:rPr lang="en-US" dirty="0" err="1">
                <a:latin typeface="Times New Roman" panose="02020603050405020304" pitchFamily="18" charset="0"/>
                <a:cs typeface="Times New Roman" panose="02020603050405020304" pitchFamily="18" charset="0"/>
              </a:rPr>
              <a:t>organisational</a:t>
            </a:r>
            <a:r>
              <a:rPr lang="en-US" dirty="0">
                <a:latin typeface="Times New Roman" panose="02020603050405020304" pitchFamily="18" charset="0"/>
                <a:cs typeface="Times New Roman" panose="02020603050405020304" pitchFamily="18" charset="0"/>
              </a:rPr>
              <a:t> mechanism on Twitter. The hashtag analysis module extracts all hashtag tokens from tweets (words beginning with # ), computes their frequency distribution, and identifies the most impactful tags both globally and for specific topics.</a:t>
            </a:r>
            <a:endParaRPr lang="en-IN"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AAC33367-3FBA-5826-F496-C9FDF6E876E9}"/>
              </a:ext>
            </a:extLst>
          </p:cNvPr>
          <p:cNvSpPr txBox="1"/>
          <p:nvPr/>
        </p:nvSpPr>
        <p:spPr>
          <a:xfrm>
            <a:off x="223283" y="5015532"/>
            <a:ext cx="8821656" cy="1200329"/>
          </a:xfrm>
          <a:prstGeom prst="rect">
            <a:avLst/>
          </a:prstGeom>
          <a:noFill/>
        </p:spPr>
        <p:txBody>
          <a:bodyPr wrap="square">
            <a:spAutoFit/>
          </a:bodyPr>
          <a:lstStyle/>
          <a:p>
            <a:pPr>
              <a:buNone/>
            </a:pPr>
            <a:r>
              <a:rPr lang="en-IN" dirty="0">
                <a:latin typeface="Courier New" panose="02070309020205020404" pitchFamily="49" charset="0"/>
              </a:rPr>
              <a:t>Top Hashtags:</a:t>
            </a:r>
          </a:p>
          <a:p>
            <a:pPr>
              <a:buNone/>
            </a:pPr>
            <a:r>
              <a:rPr lang="en-IN" dirty="0">
                <a:latin typeface="Courier New" panose="02070309020205020404" pitchFamily="49" charset="0"/>
              </a:rPr>
              <a:t> [('#</a:t>
            </a:r>
            <a:r>
              <a:rPr lang="en-IN" dirty="0" err="1">
                <a:latin typeface="Courier New" panose="02070309020205020404" pitchFamily="49" charset="0"/>
              </a:rPr>
              <a:t>chatgpt</a:t>
            </a:r>
            <a:r>
              <a:rPr lang="en-IN" dirty="0">
                <a:latin typeface="Courier New" panose="02070309020205020404" pitchFamily="49" charset="0"/>
              </a:rPr>
              <a:t>', 9367), ('#ai', 2525), ('#</a:t>
            </a:r>
            <a:r>
              <a:rPr lang="en-IN" dirty="0" err="1">
                <a:latin typeface="Courier New" panose="02070309020205020404" pitchFamily="49" charset="0"/>
              </a:rPr>
              <a:t>openai</a:t>
            </a:r>
            <a:r>
              <a:rPr lang="en-IN" dirty="0">
                <a:latin typeface="Courier New" panose="02070309020205020404" pitchFamily="49" charset="0"/>
              </a:rPr>
              <a:t>', 1010), ('#</a:t>
            </a:r>
            <a:r>
              <a:rPr lang="en-IN" dirty="0" err="1">
                <a:latin typeface="Courier New" panose="02070309020205020404" pitchFamily="49" charset="0"/>
              </a:rPr>
              <a:t>artificialintelligence</a:t>
            </a:r>
            <a:r>
              <a:rPr lang="en-IN" dirty="0">
                <a:latin typeface="Courier New" panose="02070309020205020404" pitchFamily="49" charset="0"/>
              </a:rPr>
              <a:t>', 721), ('#</a:t>
            </a:r>
            <a:r>
              <a:rPr lang="en-IN" dirty="0" err="1">
                <a:latin typeface="Courier New" panose="02070309020205020404" pitchFamily="49" charset="0"/>
              </a:rPr>
              <a:t>microsoft</a:t>
            </a:r>
            <a:r>
              <a:rPr lang="en-IN" dirty="0">
                <a:latin typeface="Courier New" panose="02070309020205020404" pitchFamily="49" charset="0"/>
              </a:rPr>
              <a:t>', 498), ('#</a:t>
            </a:r>
            <a:r>
              <a:rPr lang="en-IN" dirty="0" err="1">
                <a:latin typeface="Courier New" panose="02070309020205020404" pitchFamily="49" charset="0"/>
              </a:rPr>
              <a:t>chatgpt</a:t>
            </a:r>
            <a:r>
              <a:rPr lang="en-IN" dirty="0">
                <a:latin typeface="Courier New" panose="02070309020205020404" pitchFamily="49" charset="0"/>
              </a:rPr>
              <a:t>,', 305), ('#technology', 304), ('#google', 277)</a:t>
            </a:r>
          </a:p>
        </p:txBody>
      </p:sp>
      <p:pic>
        <p:nvPicPr>
          <p:cNvPr id="12" name="Picture 11">
            <a:extLst>
              <a:ext uri="{FF2B5EF4-FFF2-40B4-BE49-F238E27FC236}">
                <a16:creationId xmlns:a16="http://schemas.microsoft.com/office/drawing/2014/main" id="{674BF984-FBD9-D581-18E4-7489EF794CED}"/>
              </a:ext>
            </a:extLst>
          </p:cNvPr>
          <p:cNvPicPr>
            <a:picLocks noChangeAspect="1"/>
          </p:cNvPicPr>
          <p:nvPr/>
        </p:nvPicPr>
        <p:blipFill>
          <a:blip r:embed="rId2"/>
          <a:stretch>
            <a:fillRect/>
          </a:stretch>
        </p:blipFill>
        <p:spPr>
          <a:xfrm>
            <a:off x="4572000" y="1312362"/>
            <a:ext cx="4472939" cy="3703170"/>
          </a:xfrm>
          <a:prstGeom prst="rect">
            <a:avLst/>
          </a:prstGeom>
        </p:spPr>
      </p:pic>
      <p:sp>
        <p:nvSpPr>
          <p:cNvPr id="13" name="Title 1">
            <a:extLst>
              <a:ext uri="{FF2B5EF4-FFF2-40B4-BE49-F238E27FC236}">
                <a16:creationId xmlns:a16="http://schemas.microsoft.com/office/drawing/2014/main" id="{EF8CC2E1-F1A2-EDC9-59D8-F360A6628068}"/>
              </a:ext>
            </a:extLst>
          </p:cNvPr>
          <p:cNvSpPr>
            <a:spLocks noGrp="1"/>
          </p:cNvSpPr>
          <p:nvPr>
            <p:ph type="title"/>
          </p:nvPr>
        </p:nvSpPr>
        <p:spPr>
          <a:xfrm>
            <a:off x="457201" y="0"/>
            <a:ext cx="8229600" cy="1143000"/>
          </a:xfrm>
        </p:spPr>
        <p:txBody>
          <a:bodyPr>
            <a:normAutofit/>
          </a:bodyPr>
          <a:lstStyle/>
          <a:p>
            <a:pPr algn="l"/>
            <a:r>
              <a:rPr sz="3600" dirty="0">
                <a:latin typeface="Times New Roman" panose="02020603050405020304" pitchFamily="18" charset="0"/>
                <a:cs typeface="Times New Roman" panose="02020603050405020304" pitchFamily="18" charset="0"/>
              </a:rPr>
              <a:t>Workflow</a:t>
            </a:r>
          </a:p>
        </p:txBody>
      </p:sp>
      <p:sp>
        <p:nvSpPr>
          <p:cNvPr id="14" name="TextBox 13">
            <a:extLst>
              <a:ext uri="{FF2B5EF4-FFF2-40B4-BE49-F238E27FC236}">
                <a16:creationId xmlns:a16="http://schemas.microsoft.com/office/drawing/2014/main" id="{33BC1C23-FE6D-944B-9AEC-CD8EFEF6BCE6}"/>
              </a:ext>
            </a:extLst>
          </p:cNvPr>
          <p:cNvSpPr txBox="1"/>
          <p:nvPr/>
        </p:nvSpPr>
        <p:spPr>
          <a:xfrm>
            <a:off x="308344" y="1312362"/>
            <a:ext cx="3668233"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4.2 Overall Most Used Hashtags</a:t>
            </a:r>
          </a:p>
        </p:txBody>
      </p:sp>
      <p:sp>
        <p:nvSpPr>
          <p:cNvPr id="2" name="Slide Number Placeholder 1">
            <a:extLst>
              <a:ext uri="{FF2B5EF4-FFF2-40B4-BE49-F238E27FC236}">
                <a16:creationId xmlns:a16="http://schemas.microsoft.com/office/drawing/2014/main" id="{A72BE0C5-E8D6-9524-9E32-696446A1AD8F}"/>
              </a:ext>
            </a:extLst>
          </p:cNvPr>
          <p:cNvSpPr>
            <a:spLocks noGrp="1"/>
          </p:cNvSpPr>
          <p:nvPr>
            <p:ph type="sldNum" sz="quarter" idx="12"/>
          </p:nvPr>
        </p:nvSpPr>
        <p:spPr/>
        <p:txBody>
          <a:bodyPr/>
          <a:lstStyle/>
          <a:p>
            <a:fld id="{C1FF6DA9-008F-8B48-92A6-B652298478BF}" type="slidenum">
              <a:rPr lang="en-US" smtClean="0"/>
              <a:t>14</a:t>
            </a:fld>
            <a:endParaRPr lang="en-US"/>
          </a:p>
        </p:txBody>
      </p:sp>
    </p:spTree>
    <p:extLst>
      <p:ext uri="{BB962C8B-B14F-4D97-AF65-F5344CB8AC3E}">
        <p14:creationId xmlns:p14="http://schemas.microsoft.com/office/powerpoint/2010/main" val="11204547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2948F38-97DC-BBD3-D02C-8B5AE8EB4439}"/>
              </a:ext>
            </a:extLst>
          </p:cNvPr>
          <p:cNvSpPr>
            <a:spLocks noGrp="1"/>
          </p:cNvSpPr>
          <p:nvPr>
            <p:ph type="title"/>
          </p:nvPr>
        </p:nvSpPr>
        <p:spPr>
          <a:xfrm>
            <a:off x="457201" y="0"/>
            <a:ext cx="8229600" cy="1143000"/>
          </a:xfrm>
        </p:spPr>
        <p:txBody>
          <a:bodyPr>
            <a:normAutofit/>
          </a:bodyPr>
          <a:lstStyle/>
          <a:p>
            <a:pPr algn="l"/>
            <a:r>
              <a:rPr sz="3600" dirty="0">
                <a:latin typeface="Times New Roman" panose="02020603050405020304" pitchFamily="18" charset="0"/>
                <a:cs typeface="Times New Roman" panose="02020603050405020304" pitchFamily="18" charset="0"/>
              </a:rPr>
              <a:t>Workflow</a:t>
            </a:r>
          </a:p>
        </p:txBody>
      </p:sp>
      <p:sp>
        <p:nvSpPr>
          <p:cNvPr id="6" name="TextBox 5">
            <a:extLst>
              <a:ext uri="{FF2B5EF4-FFF2-40B4-BE49-F238E27FC236}">
                <a16:creationId xmlns:a16="http://schemas.microsoft.com/office/drawing/2014/main" id="{D25BBA47-6332-3B09-B831-EE785BD78082}"/>
              </a:ext>
            </a:extLst>
          </p:cNvPr>
          <p:cNvSpPr txBox="1"/>
          <p:nvPr/>
        </p:nvSpPr>
        <p:spPr>
          <a:xfrm>
            <a:off x="457201" y="1143000"/>
            <a:ext cx="7687340" cy="3970318"/>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5. Sentiment Analysis</a:t>
            </a:r>
          </a:p>
          <a:p>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5.1 Sentiment Analysis For </a:t>
            </a:r>
          </a:p>
          <a:p>
            <a:r>
              <a:rPr lang="en-IN" b="1" dirty="0">
                <a:latin typeface="Times New Roman" panose="02020603050405020304" pitchFamily="18" charset="0"/>
                <a:cs typeface="Times New Roman" panose="02020603050405020304" pitchFamily="18" charset="0"/>
              </a:rPr>
              <a:t>a Specific Topic</a:t>
            </a:r>
          </a:p>
          <a:p>
            <a:endParaRPr lang="en-US" dirty="0"/>
          </a:p>
          <a:p>
            <a:r>
              <a:rPr lang="en-US" dirty="0"/>
              <a:t>Enter topic: movie</a:t>
            </a:r>
          </a:p>
          <a:p>
            <a:r>
              <a:rPr lang="en-US" dirty="0"/>
              <a:t>Tweets found: 355</a:t>
            </a:r>
          </a:p>
          <a:p>
            <a:endParaRPr lang="en-US" dirty="0"/>
          </a:p>
          <a:p>
            <a:r>
              <a:rPr lang="en-US" dirty="0"/>
              <a:t>Sentiment Analysis for: movie</a:t>
            </a:r>
          </a:p>
          <a:p>
            <a:r>
              <a:rPr lang="en-US" dirty="0"/>
              <a:t>Positive    224</a:t>
            </a:r>
          </a:p>
          <a:p>
            <a:r>
              <a:rPr lang="en-US" dirty="0"/>
              <a:t>Neutral      76</a:t>
            </a:r>
          </a:p>
          <a:p>
            <a:r>
              <a:rPr lang="en-US" dirty="0"/>
              <a:t>Negative     55</a:t>
            </a:r>
          </a:p>
          <a:p>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9F00C6A9-8DF9-7F64-363D-5E1C0ECE29B2}"/>
              </a:ext>
            </a:extLst>
          </p:cNvPr>
          <p:cNvPicPr>
            <a:picLocks noChangeAspect="1"/>
          </p:cNvPicPr>
          <p:nvPr/>
        </p:nvPicPr>
        <p:blipFill>
          <a:blip r:embed="rId3"/>
          <a:stretch>
            <a:fillRect/>
          </a:stretch>
        </p:blipFill>
        <p:spPr>
          <a:xfrm>
            <a:off x="3736697" y="1084521"/>
            <a:ext cx="5221234" cy="4599441"/>
          </a:xfrm>
          <a:prstGeom prst="rect">
            <a:avLst/>
          </a:prstGeom>
        </p:spPr>
      </p:pic>
      <p:sp>
        <p:nvSpPr>
          <p:cNvPr id="3" name="Slide Number Placeholder 2">
            <a:extLst>
              <a:ext uri="{FF2B5EF4-FFF2-40B4-BE49-F238E27FC236}">
                <a16:creationId xmlns:a16="http://schemas.microsoft.com/office/drawing/2014/main" id="{2C5EDD64-E235-F3B1-BF0C-C079057ED343}"/>
              </a:ext>
            </a:extLst>
          </p:cNvPr>
          <p:cNvSpPr>
            <a:spLocks noGrp="1"/>
          </p:cNvSpPr>
          <p:nvPr>
            <p:ph type="sldNum" sz="quarter" idx="12"/>
          </p:nvPr>
        </p:nvSpPr>
        <p:spPr/>
        <p:txBody>
          <a:bodyPr/>
          <a:lstStyle/>
          <a:p>
            <a:fld id="{C1FF6DA9-008F-8B48-92A6-B652298478BF}" type="slidenum">
              <a:rPr lang="en-US" smtClean="0"/>
              <a:t>15</a:t>
            </a:fld>
            <a:endParaRPr lang="en-US"/>
          </a:p>
        </p:txBody>
      </p:sp>
    </p:spTree>
    <p:extLst>
      <p:ext uri="{BB962C8B-B14F-4D97-AF65-F5344CB8AC3E}">
        <p14:creationId xmlns:p14="http://schemas.microsoft.com/office/powerpoint/2010/main" val="29774794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6E6F901-21F3-F21D-F592-C7D0567E084D}"/>
              </a:ext>
            </a:extLst>
          </p:cNvPr>
          <p:cNvSpPr>
            <a:spLocks noGrp="1"/>
          </p:cNvSpPr>
          <p:nvPr>
            <p:ph type="title"/>
          </p:nvPr>
        </p:nvSpPr>
        <p:spPr>
          <a:xfrm>
            <a:off x="457201" y="0"/>
            <a:ext cx="8229600" cy="1143000"/>
          </a:xfrm>
        </p:spPr>
        <p:txBody>
          <a:bodyPr>
            <a:normAutofit/>
          </a:bodyPr>
          <a:lstStyle/>
          <a:p>
            <a:pPr algn="l"/>
            <a:r>
              <a:rPr sz="3600" dirty="0">
                <a:latin typeface="Times New Roman" panose="02020603050405020304" pitchFamily="18" charset="0"/>
                <a:cs typeface="Times New Roman" panose="02020603050405020304" pitchFamily="18" charset="0"/>
              </a:rPr>
              <a:t>Workflow</a:t>
            </a:r>
          </a:p>
        </p:txBody>
      </p:sp>
      <p:sp>
        <p:nvSpPr>
          <p:cNvPr id="5" name="TextBox 4">
            <a:extLst>
              <a:ext uri="{FF2B5EF4-FFF2-40B4-BE49-F238E27FC236}">
                <a16:creationId xmlns:a16="http://schemas.microsoft.com/office/drawing/2014/main" id="{099E99A4-5714-6DD7-1CF5-A9692E1500AA}"/>
              </a:ext>
            </a:extLst>
          </p:cNvPr>
          <p:cNvSpPr txBox="1"/>
          <p:nvPr/>
        </p:nvSpPr>
        <p:spPr>
          <a:xfrm>
            <a:off x="457201" y="946298"/>
            <a:ext cx="8229600" cy="3693319"/>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6. Time Series Analysis</a:t>
            </a:r>
          </a:p>
          <a:p>
            <a:r>
              <a:rPr lang="en-US" b="1" dirty="0">
                <a:latin typeface="Times New Roman" panose="02020603050405020304" pitchFamily="18" charset="0"/>
                <a:cs typeface="Times New Roman" panose="02020603050405020304" pitchFamily="18" charset="0"/>
              </a:rPr>
              <a:t>6.1  Sentiment Analysis Over Time</a:t>
            </a:r>
          </a:p>
          <a:p>
            <a:pPr algn="just"/>
            <a:r>
              <a:rPr lang="en-US" dirty="0">
                <a:latin typeface="Times New Roman" panose="02020603050405020304" pitchFamily="18" charset="0"/>
                <a:cs typeface="Times New Roman" panose="02020603050405020304" pitchFamily="18" charset="0"/>
              </a:rPr>
              <a:t>The analysis was performed on tweets related to Virat Kohli, where a total of 64 tweets were found. The sentiment trend shows that most tweets were positive, especially during March 2026, indicating strong public appreciation and support. Only a few negative tweets were observed, which means the overall sentiment toward Virat Kohli was mainly positive. The highest positive activity appeared on 2026-03-26 with 8 positive tweets, suggesting increased engagement or popularity on that date.</a:t>
            </a:r>
          </a:p>
          <a:p>
            <a:endParaRPr lang="en-US" dirty="0"/>
          </a:p>
          <a:p>
            <a:r>
              <a:rPr lang="en-US" dirty="0"/>
              <a:t>Enter topic: </a:t>
            </a:r>
            <a:r>
              <a:rPr lang="en-US" dirty="0" err="1"/>
              <a:t>virat</a:t>
            </a:r>
            <a:r>
              <a:rPr lang="en-US" dirty="0"/>
              <a:t> Kohli</a:t>
            </a:r>
          </a:p>
          <a:p>
            <a:r>
              <a:rPr lang="en-US" dirty="0"/>
              <a:t>Tweets found: 64</a:t>
            </a:r>
          </a:p>
          <a:p>
            <a:endParaRPr lang="en-US" dirty="0"/>
          </a:p>
          <a:p>
            <a:pPr algn="just"/>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05B7D39A-3B03-BDCC-6EF6-FC1F4A280B53}"/>
              </a:ext>
            </a:extLst>
          </p:cNvPr>
          <p:cNvPicPr>
            <a:picLocks noChangeAspect="1"/>
          </p:cNvPicPr>
          <p:nvPr/>
        </p:nvPicPr>
        <p:blipFill>
          <a:blip r:embed="rId2"/>
          <a:stretch>
            <a:fillRect/>
          </a:stretch>
        </p:blipFill>
        <p:spPr>
          <a:xfrm>
            <a:off x="3774559" y="3323782"/>
            <a:ext cx="5188688" cy="3526829"/>
          </a:xfrm>
          <a:prstGeom prst="rect">
            <a:avLst/>
          </a:prstGeom>
        </p:spPr>
      </p:pic>
      <p:sp>
        <p:nvSpPr>
          <p:cNvPr id="2" name="Slide Number Placeholder 1">
            <a:extLst>
              <a:ext uri="{FF2B5EF4-FFF2-40B4-BE49-F238E27FC236}">
                <a16:creationId xmlns:a16="http://schemas.microsoft.com/office/drawing/2014/main" id="{291CE362-57C9-A325-5858-CF176DEBBA36}"/>
              </a:ext>
            </a:extLst>
          </p:cNvPr>
          <p:cNvSpPr>
            <a:spLocks noGrp="1"/>
          </p:cNvSpPr>
          <p:nvPr>
            <p:ph type="sldNum" sz="quarter" idx="12"/>
          </p:nvPr>
        </p:nvSpPr>
        <p:spPr/>
        <p:txBody>
          <a:bodyPr/>
          <a:lstStyle/>
          <a:p>
            <a:fld id="{C1FF6DA9-008F-8B48-92A6-B652298478BF}" type="slidenum">
              <a:rPr lang="en-US" smtClean="0"/>
              <a:t>16</a:t>
            </a:fld>
            <a:endParaRPr lang="en-US"/>
          </a:p>
        </p:txBody>
      </p:sp>
    </p:spTree>
    <p:extLst>
      <p:ext uri="{BB962C8B-B14F-4D97-AF65-F5344CB8AC3E}">
        <p14:creationId xmlns:p14="http://schemas.microsoft.com/office/powerpoint/2010/main" val="18355301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97E0C66-61CD-1563-CE69-FD069914E059}"/>
              </a:ext>
            </a:extLst>
          </p:cNvPr>
          <p:cNvSpPr>
            <a:spLocks noGrp="1"/>
          </p:cNvSpPr>
          <p:nvPr>
            <p:ph type="title"/>
          </p:nvPr>
        </p:nvSpPr>
        <p:spPr>
          <a:xfrm>
            <a:off x="457201" y="0"/>
            <a:ext cx="8229600" cy="1143000"/>
          </a:xfrm>
        </p:spPr>
        <p:txBody>
          <a:bodyPr>
            <a:normAutofit/>
          </a:bodyPr>
          <a:lstStyle/>
          <a:p>
            <a:pPr algn="l"/>
            <a:r>
              <a:rPr sz="3600" dirty="0">
                <a:latin typeface="Times New Roman" panose="02020603050405020304" pitchFamily="18" charset="0"/>
                <a:cs typeface="Times New Roman" panose="02020603050405020304" pitchFamily="18" charset="0"/>
              </a:rPr>
              <a:t>Workflow</a:t>
            </a:r>
          </a:p>
        </p:txBody>
      </p:sp>
      <p:sp>
        <p:nvSpPr>
          <p:cNvPr id="5" name="TextBox 4">
            <a:extLst>
              <a:ext uri="{FF2B5EF4-FFF2-40B4-BE49-F238E27FC236}">
                <a16:creationId xmlns:a16="http://schemas.microsoft.com/office/drawing/2014/main" id="{B969927E-9228-A493-FD8B-A6EBC6791A12}"/>
              </a:ext>
            </a:extLst>
          </p:cNvPr>
          <p:cNvSpPr txBox="1"/>
          <p:nvPr/>
        </p:nvSpPr>
        <p:spPr>
          <a:xfrm>
            <a:off x="531631" y="1143000"/>
            <a:ext cx="8155169" cy="286232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6.2 Best Time To Post For a Specific Topic</a:t>
            </a:r>
            <a:endParaRPr lang="en-IN"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According to the analysis, the best time to post about “</a:t>
            </a:r>
            <a:r>
              <a:rPr lang="en-US" dirty="0" err="1">
                <a:latin typeface="Times New Roman" panose="02020603050405020304" pitchFamily="18" charset="0"/>
                <a:cs typeface="Times New Roman" panose="02020603050405020304" pitchFamily="18" charset="0"/>
              </a:rPr>
              <a:t>virat</a:t>
            </a:r>
            <a:r>
              <a:rPr lang="en-US" dirty="0">
                <a:latin typeface="Times New Roman" panose="02020603050405020304" pitchFamily="18" charset="0"/>
                <a:cs typeface="Times New Roman" panose="02020603050405020304" pitchFamily="18" charset="0"/>
              </a:rPr>
              <a:t>” is around 10:00 AM, where tweet activity reaches one of its highest peaks. Additional high-engagement periods are also observed around 1:00 PM, 3:00 PM, 4:00 PM, and 5:00 PM, indicating that users remain highly active during late morning and afternoon hours.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Enter topic: </a:t>
            </a:r>
            <a:r>
              <a:rPr lang="en-US" dirty="0" err="1">
                <a:latin typeface="Times New Roman" panose="02020603050405020304" pitchFamily="18" charset="0"/>
                <a:cs typeface="Times New Roman" panose="02020603050405020304" pitchFamily="18" charset="0"/>
              </a:rPr>
              <a:t>virat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Tweets found: 64</a:t>
            </a:r>
          </a:p>
          <a:p>
            <a:r>
              <a:rPr lang="en-US" dirty="0">
                <a:latin typeface="Times New Roman" panose="02020603050405020304" pitchFamily="18" charset="0"/>
                <a:cs typeface="Times New Roman" panose="02020603050405020304" pitchFamily="18" charset="0"/>
              </a:rPr>
              <a:t>Best time to post about </a:t>
            </a:r>
            <a:r>
              <a:rPr lang="en-US" dirty="0" err="1">
                <a:latin typeface="Times New Roman" panose="02020603050405020304" pitchFamily="18" charset="0"/>
                <a:cs typeface="Times New Roman" panose="02020603050405020304" pitchFamily="18" charset="0"/>
              </a:rPr>
              <a:t>virat</a:t>
            </a:r>
            <a:r>
              <a:rPr lang="en-US" dirty="0">
                <a:latin typeface="Times New Roman" panose="02020603050405020304" pitchFamily="18" charset="0"/>
                <a:cs typeface="Times New Roman" panose="02020603050405020304" pitchFamily="18" charset="0"/>
              </a:rPr>
              <a:t> is around: 10 :00</a:t>
            </a:r>
          </a:p>
          <a:p>
            <a:endParaRPr lang="en-US" dirty="0"/>
          </a:p>
        </p:txBody>
      </p:sp>
      <p:pic>
        <p:nvPicPr>
          <p:cNvPr id="7" name="Picture 6">
            <a:extLst>
              <a:ext uri="{FF2B5EF4-FFF2-40B4-BE49-F238E27FC236}">
                <a16:creationId xmlns:a16="http://schemas.microsoft.com/office/drawing/2014/main" id="{92B5A471-D26F-005B-A8BD-0233A6315C8A}"/>
              </a:ext>
            </a:extLst>
          </p:cNvPr>
          <p:cNvPicPr>
            <a:picLocks noChangeAspect="1"/>
          </p:cNvPicPr>
          <p:nvPr/>
        </p:nvPicPr>
        <p:blipFill>
          <a:blip r:embed="rId2"/>
          <a:stretch>
            <a:fillRect/>
          </a:stretch>
        </p:blipFill>
        <p:spPr>
          <a:xfrm>
            <a:off x="3669760" y="3798674"/>
            <a:ext cx="5474240" cy="3059326"/>
          </a:xfrm>
          <a:prstGeom prst="rect">
            <a:avLst/>
          </a:prstGeom>
        </p:spPr>
      </p:pic>
      <p:sp>
        <p:nvSpPr>
          <p:cNvPr id="2" name="Slide Number Placeholder 1">
            <a:extLst>
              <a:ext uri="{FF2B5EF4-FFF2-40B4-BE49-F238E27FC236}">
                <a16:creationId xmlns:a16="http://schemas.microsoft.com/office/drawing/2014/main" id="{1DC19D29-8B53-3053-E134-85F87748B0D7}"/>
              </a:ext>
            </a:extLst>
          </p:cNvPr>
          <p:cNvSpPr>
            <a:spLocks noGrp="1"/>
          </p:cNvSpPr>
          <p:nvPr>
            <p:ph type="sldNum" sz="quarter" idx="12"/>
          </p:nvPr>
        </p:nvSpPr>
        <p:spPr/>
        <p:txBody>
          <a:bodyPr/>
          <a:lstStyle/>
          <a:p>
            <a:fld id="{C1FF6DA9-008F-8B48-92A6-B652298478BF}" type="slidenum">
              <a:rPr lang="en-US" smtClean="0"/>
              <a:t>17</a:t>
            </a:fld>
            <a:endParaRPr lang="en-US"/>
          </a:p>
        </p:txBody>
      </p:sp>
    </p:spTree>
    <p:extLst>
      <p:ext uri="{BB962C8B-B14F-4D97-AF65-F5344CB8AC3E}">
        <p14:creationId xmlns:p14="http://schemas.microsoft.com/office/powerpoint/2010/main" val="12930385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86BF802-677D-5FC9-1DD9-ACDC9FC1C7EF}"/>
              </a:ext>
            </a:extLst>
          </p:cNvPr>
          <p:cNvSpPr>
            <a:spLocks noGrp="1"/>
          </p:cNvSpPr>
          <p:nvPr>
            <p:ph type="title"/>
          </p:nvPr>
        </p:nvSpPr>
        <p:spPr>
          <a:xfrm>
            <a:off x="457201" y="0"/>
            <a:ext cx="8229600" cy="1143000"/>
          </a:xfrm>
        </p:spPr>
        <p:txBody>
          <a:bodyPr>
            <a:normAutofit/>
          </a:bodyPr>
          <a:lstStyle/>
          <a:p>
            <a:pPr algn="l"/>
            <a:r>
              <a:rPr sz="3600" dirty="0">
                <a:latin typeface="Times New Roman" panose="02020603050405020304" pitchFamily="18" charset="0"/>
                <a:cs typeface="Times New Roman" panose="02020603050405020304" pitchFamily="18" charset="0"/>
              </a:rPr>
              <a:t>Workflow</a:t>
            </a:r>
          </a:p>
        </p:txBody>
      </p:sp>
      <p:sp>
        <p:nvSpPr>
          <p:cNvPr id="5" name="TextBox 4">
            <a:extLst>
              <a:ext uri="{FF2B5EF4-FFF2-40B4-BE49-F238E27FC236}">
                <a16:creationId xmlns:a16="http://schemas.microsoft.com/office/drawing/2014/main" id="{29042CF6-D195-7A9F-3FC3-269551F6BACF}"/>
              </a:ext>
            </a:extLst>
          </p:cNvPr>
          <p:cNvSpPr txBox="1"/>
          <p:nvPr/>
        </p:nvSpPr>
        <p:spPr>
          <a:xfrm>
            <a:off x="457201" y="1036674"/>
            <a:ext cx="8229600" cy="59093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7. Tweet Recommendation System </a:t>
            </a:r>
          </a:p>
          <a:p>
            <a:r>
              <a:rPr lang="en-US" dirty="0">
                <a:latin typeface="Times New Roman" panose="02020603050405020304" pitchFamily="18" charset="0"/>
                <a:cs typeface="Times New Roman" panose="02020603050405020304" pitchFamily="18" charset="0"/>
              </a:rPr>
              <a:t>The TF-IDF based recommendation system was tested using the topic query “</a:t>
            </a:r>
            <a:r>
              <a:rPr lang="en-US" dirty="0" err="1">
                <a:latin typeface="Times New Roman" panose="02020603050405020304" pitchFamily="18" charset="0"/>
                <a:cs typeface="Times New Roman" panose="02020603050405020304" pitchFamily="18" charset="0"/>
              </a:rPr>
              <a:t>ipl</a:t>
            </a:r>
            <a:r>
              <a:rPr lang="en-US" dirty="0">
                <a:latin typeface="Times New Roman" panose="02020603050405020304" pitchFamily="18" charset="0"/>
                <a:cs typeface="Times New Roman" panose="02020603050405020304" pitchFamily="18" charset="0"/>
              </a:rPr>
              <a:t>” with the sentiment preference set to negative. After applying sentiment filtering, the system identified 6,412 tweets belonging to the negative sentiment category. This demonstrates the system’s ability to perform targeted filtering based on both topic relevance and emotional tone.</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Enter topic: </a:t>
            </a:r>
            <a:r>
              <a:rPr lang="en-US" dirty="0" err="1">
                <a:latin typeface="Times New Roman" panose="02020603050405020304" pitchFamily="18" charset="0"/>
                <a:cs typeface="Times New Roman" panose="02020603050405020304" pitchFamily="18" charset="0"/>
              </a:rPr>
              <a:t>ipl</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Enter sentiment (positive/negative/neutral): negative</a:t>
            </a:r>
          </a:p>
          <a:p>
            <a:r>
              <a:rPr lang="en-US" dirty="0">
                <a:latin typeface="Times New Roman" panose="02020603050405020304" pitchFamily="18" charset="0"/>
                <a:cs typeface="Times New Roman" panose="02020603050405020304" pitchFamily="18" charset="0"/>
              </a:rPr>
              <a:t>Tweets after sentiment filter: 6412</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Recommended Tweets: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1. PSL had the contracts. IPL made one call.</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9 players. 9 different franchises. Same decision.</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Fraser-McGurk, </a:t>
            </a:r>
            <a:r>
              <a:rPr lang="en-US" dirty="0" err="1">
                <a:latin typeface="Times New Roman" panose="02020603050405020304" pitchFamily="18" charset="0"/>
                <a:cs typeface="Times New Roman" panose="02020603050405020304" pitchFamily="18" charset="0"/>
              </a:rPr>
              <a:t>Muzarabani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Gurbaz</a:t>
            </a:r>
            <a:r>
              <a:rPr lang="en-US" dirty="0">
                <a:latin typeface="Times New Roman" panose="02020603050405020304" pitchFamily="18" charset="0"/>
                <a:cs typeface="Times New Roman" panose="02020603050405020304" pitchFamily="18" charset="0"/>
              </a:rPr>
              <a:t>, Johnson, Mills. The moment an IPL spot opened up, the PSL contract meant nothing.</a:t>
            </a:r>
          </a:p>
          <a:p>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864B5A57-8861-98B9-670C-DF4AABED06D0}"/>
              </a:ext>
            </a:extLst>
          </p:cNvPr>
          <p:cNvSpPr>
            <a:spLocks noGrp="1"/>
          </p:cNvSpPr>
          <p:nvPr>
            <p:ph type="sldNum" sz="quarter" idx="12"/>
          </p:nvPr>
        </p:nvSpPr>
        <p:spPr/>
        <p:txBody>
          <a:bodyPr/>
          <a:lstStyle/>
          <a:p>
            <a:fld id="{C1FF6DA9-008F-8B48-92A6-B652298478BF}" type="slidenum">
              <a:rPr lang="en-US" smtClean="0"/>
              <a:t>18</a:t>
            </a:fld>
            <a:endParaRPr lang="en-US"/>
          </a:p>
        </p:txBody>
      </p:sp>
    </p:spTree>
    <p:extLst>
      <p:ext uri="{BB962C8B-B14F-4D97-AF65-F5344CB8AC3E}">
        <p14:creationId xmlns:p14="http://schemas.microsoft.com/office/powerpoint/2010/main" val="37782780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5384067-DF9A-A933-B4C5-66A30E9F3C6D}"/>
              </a:ext>
            </a:extLst>
          </p:cNvPr>
          <p:cNvSpPr txBox="1"/>
          <p:nvPr/>
        </p:nvSpPr>
        <p:spPr>
          <a:xfrm>
            <a:off x="255181" y="170121"/>
            <a:ext cx="7410893" cy="6186309"/>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It's just the reality of world cricket in 2026. </a:t>
            </a:r>
          </a:p>
          <a:p>
            <a:r>
              <a:rPr lang="en-US" dirty="0">
                <a:latin typeface="Times New Roman" panose="02020603050405020304" pitchFamily="18" charset="0"/>
                <a:cs typeface="Times New Roman" panose="02020603050405020304" pitchFamily="18" charset="0"/>
              </a:rPr>
              <a:t>This is the reality check for PSL. </a:t>
            </a:r>
          </a:p>
          <a:p>
            <a:r>
              <a:rPr lang="en-US" dirty="0">
                <a:latin typeface="Times New Roman" panose="02020603050405020304" pitchFamily="18" charset="0"/>
                <a:cs typeface="Times New Roman" panose="02020603050405020304" pitchFamily="18" charset="0"/>
              </a:rPr>
              <a:t>Every league on the planet is essentially a waiting room for the IPL. Players show up, do their bit, and the moment that Mumbai or Bangalore call comes, bags are packed.</a:t>
            </a:r>
          </a:p>
          <a:p>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5. 🚨 IPL 2026 ALL TEAM CAPTAIN'S 🚨</a:t>
            </a:r>
          </a:p>
          <a:p>
            <a:r>
              <a:rPr lang="en-US" dirty="0">
                <a:latin typeface="Times New Roman" panose="02020603050405020304" pitchFamily="18" charset="0"/>
                <a:cs typeface="Times New Roman" panose="02020603050405020304" pitchFamily="18" charset="0"/>
              </a:rPr>
              <a:t>• Ruturaj Gaikwad : (CSK)</a:t>
            </a:r>
          </a:p>
          <a:p>
            <a:r>
              <a:rPr lang="en-US" dirty="0">
                <a:latin typeface="Times New Roman" panose="02020603050405020304" pitchFamily="18" charset="0"/>
                <a:cs typeface="Times New Roman" panose="02020603050405020304" pitchFamily="18" charset="0"/>
              </a:rPr>
              <a:t>• Hardik Pandya : (MI)</a:t>
            </a:r>
          </a:p>
          <a:p>
            <a:r>
              <a:rPr lang="en-US" dirty="0">
                <a:latin typeface="Times New Roman" panose="02020603050405020304" pitchFamily="18" charset="0"/>
                <a:cs typeface="Times New Roman" panose="02020603050405020304" pitchFamily="18" charset="0"/>
              </a:rPr>
              <a:t>• Ajinkya Rahane :  (KKR)</a:t>
            </a:r>
          </a:p>
          <a:p>
            <a:r>
              <a:rPr lang="en-US" dirty="0">
                <a:latin typeface="Times New Roman" panose="02020603050405020304" pitchFamily="18" charset="0"/>
                <a:cs typeface="Times New Roman" panose="02020603050405020304" pitchFamily="18" charset="0"/>
              </a:rPr>
              <a:t>• Pat Cummins :  (SRH) </a:t>
            </a:r>
          </a:p>
          <a:p>
            <a:r>
              <a:rPr lang="en-US" dirty="0">
                <a:latin typeface="Times New Roman" panose="02020603050405020304" pitchFamily="18" charset="0"/>
                <a:cs typeface="Times New Roman" panose="02020603050405020304" pitchFamily="18" charset="0"/>
              </a:rPr>
              <a:t>• Rajat Patidar : (RCB)</a:t>
            </a:r>
          </a:p>
          <a:p>
            <a:r>
              <a:rPr lang="en-US" dirty="0">
                <a:latin typeface="Times New Roman" panose="02020603050405020304" pitchFamily="18" charset="0"/>
                <a:cs typeface="Times New Roman" panose="02020603050405020304" pitchFamily="18" charset="0"/>
              </a:rPr>
              <a:t>• Shreyas Iyer : (PBKS)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Suggested Hashtags:</a:t>
            </a:r>
          </a:p>
          <a:p>
            <a:r>
              <a:rPr lang="en-US" dirty="0">
                <a:latin typeface="Times New Roman" panose="02020603050405020304" pitchFamily="18" charset="0"/>
                <a:cs typeface="Times New Roman" panose="02020603050405020304" pitchFamily="18" charset="0"/>
              </a:rPr>
              <a:t>['#ipl2026', '#</a:t>
            </a:r>
            <a:r>
              <a:rPr lang="en-US" dirty="0" err="1">
                <a:latin typeface="Times New Roman" panose="02020603050405020304" pitchFamily="18" charset="0"/>
                <a:cs typeface="Times New Roman" panose="02020603050405020304" pitchFamily="18" charset="0"/>
              </a:rPr>
              <a:t>rcbvssrh</a:t>
            </a:r>
            <a:r>
              <a:rPr lang="en-US"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Best Time to Post:</a:t>
            </a:r>
          </a:p>
          <a:p>
            <a:r>
              <a:rPr lang="en-US" dirty="0">
                <a:latin typeface="Times New Roman" panose="02020603050405020304" pitchFamily="18" charset="0"/>
                <a:cs typeface="Times New Roman" panose="02020603050405020304" pitchFamily="18" charset="0"/>
              </a:rPr>
              <a:t>3:00 PM</a:t>
            </a:r>
          </a:p>
          <a:p>
            <a:endParaRPr lang="en-IN" dirty="0"/>
          </a:p>
        </p:txBody>
      </p:sp>
      <p:sp>
        <p:nvSpPr>
          <p:cNvPr id="2" name="Slide Number Placeholder 1">
            <a:extLst>
              <a:ext uri="{FF2B5EF4-FFF2-40B4-BE49-F238E27FC236}">
                <a16:creationId xmlns:a16="http://schemas.microsoft.com/office/drawing/2014/main" id="{ED80D8F1-E569-FAB5-51E2-00118A848406}"/>
              </a:ext>
            </a:extLst>
          </p:cNvPr>
          <p:cNvSpPr>
            <a:spLocks noGrp="1"/>
          </p:cNvSpPr>
          <p:nvPr>
            <p:ph type="sldNum" sz="quarter" idx="12"/>
          </p:nvPr>
        </p:nvSpPr>
        <p:spPr/>
        <p:txBody>
          <a:bodyPr/>
          <a:lstStyle/>
          <a:p>
            <a:fld id="{C1FF6DA9-008F-8B48-92A6-B652298478BF}" type="slidenum">
              <a:rPr lang="en-US" smtClean="0"/>
              <a:t>19</a:t>
            </a:fld>
            <a:endParaRPr lang="en-US"/>
          </a:p>
        </p:txBody>
      </p:sp>
    </p:spTree>
    <p:extLst>
      <p:ext uri="{BB962C8B-B14F-4D97-AF65-F5344CB8AC3E}">
        <p14:creationId xmlns:p14="http://schemas.microsoft.com/office/powerpoint/2010/main" val="24646877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0874" y="0"/>
            <a:ext cx="3646967" cy="1066764"/>
          </a:xfrm>
        </p:spPr>
        <p:txBody>
          <a:bodyPr>
            <a:normAutofit/>
          </a:bodyPr>
          <a:lstStyle/>
          <a:p>
            <a:r>
              <a:rPr sz="3600" dirty="0">
                <a:latin typeface="Times New Roman" panose="02020603050405020304" pitchFamily="18" charset="0"/>
                <a:cs typeface="Times New Roman" panose="02020603050405020304" pitchFamily="18" charset="0"/>
              </a:rPr>
              <a:t>Model Evaluation</a:t>
            </a:r>
          </a:p>
        </p:txBody>
      </p:sp>
      <p:sp>
        <p:nvSpPr>
          <p:cNvPr id="6" name="TextBox 5">
            <a:extLst>
              <a:ext uri="{FF2B5EF4-FFF2-40B4-BE49-F238E27FC236}">
                <a16:creationId xmlns:a16="http://schemas.microsoft.com/office/drawing/2014/main" id="{F38C5A16-4772-D7B8-505B-4A53BAA295EE}"/>
              </a:ext>
            </a:extLst>
          </p:cNvPr>
          <p:cNvSpPr txBox="1"/>
          <p:nvPr/>
        </p:nvSpPr>
        <p:spPr>
          <a:xfrm>
            <a:off x="350874" y="1066764"/>
            <a:ext cx="8676168" cy="286232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Evaluation Strategy:</a:t>
            </a:r>
          </a:p>
          <a:p>
            <a:r>
              <a:rPr lang="en-US" dirty="0">
                <a:latin typeface="Times New Roman" panose="02020603050405020304" pitchFamily="18" charset="0"/>
                <a:cs typeface="Times New Roman" panose="02020603050405020304" pitchFamily="18" charset="0"/>
              </a:rPr>
              <a:t>The dataset is split into training and test sets using an 80:20 ratio (</a:t>
            </a:r>
            <a:r>
              <a:rPr lang="en-US" dirty="0" err="1">
                <a:latin typeface="Times New Roman" panose="02020603050405020304" pitchFamily="18" charset="0"/>
                <a:cs typeface="Times New Roman" panose="02020603050405020304" pitchFamily="18" charset="0"/>
              </a:rPr>
              <a:t>random_state</a:t>
            </a:r>
            <a:r>
              <a:rPr lang="en-US" dirty="0">
                <a:latin typeface="Times New Roman" panose="02020603050405020304" pitchFamily="18" charset="0"/>
                <a:cs typeface="Times New Roman" panose="02020603050405020304" pitchFamily="18" charset="0"/>
              </a:rPr>
              <a:t>=42 for reproducibility):</a:t>
            </a:r>
            <a:endParaRPr lang="en-IN"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Training Set: 43,272 records (80% of total)</a:t>
            </a:r>
            <a:endParaRPr lang="en-IN"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Test Set: 10,819 records (20% of total)</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model is trained exclusively on the training set and evaluated on the unseen test set, ensuring unbiased performance estimation. </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Classification Report</a:t>
            </a:r>
          </a:p>
          <a:p>
            <a:endParaRPr lang="en-US" dirty="0">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8EFEA8D2-B81F-72FE-E647-4197563CC48A}"/>
              </a:ext>
            </a:extLst>
          </p:cNvPr>
          <p:cNvGraphicFramePr>
            <a:graphicFrameLocks noGrp="1"/>
          </p:cNvGraphicFramePr>
          <p:nvPr>
            <p:extLst>
              <p:ext uri="{D42A27DB-BD31-4B8C-83A1-F6EECF244321}">
                <p14:modId xmlns:p14="http://schemas.microsoft.com/office/powerpoint/2010/main" val="2448776639"/>
              </p:ext>
            </p:extLst>
          </p:nvPr>
        </p:nvGraphicFramePr>
        <p:xfrm>
          <a:off x="457200" y="3806455"/>
          <a:ext cx="5709684" cy="1748155"/>
        </p:xfrm>
        <a:graphic>
          <a:graphicData uri="http://schemas.openxmlformats.org/drawingml/2006/table">
            <a:tbl>
              <a:tblPr firstRow="1" firstCol="1" lastRow="1" lastCol="1" bandRow="1" bandCol="1">
                <a:tableStyleId>{5940675A-B579-460E-94D1-54222C63F5DA}</a:tableStyleId>
              </a:tblPr>
              <a:tblGrid>
                <a:gridCol w="1188259">
                  <a:extLst>
                    <a:ext uri="{9D8B030D-6E8A-4147-A177-3AD203B41FA5}">
                      <a16:colId xmlns:a16="http://schemas.microsoft.com/office/drawing/2014/main" val="3834897883"/>
                    </a:ext>
                  </a:extLst>
                </a:gridCol>
                <a:gridCol w="1069433">
                  <a:extLst>
                    <a:ext uri="{9D8B030D-6E8A-4147-A177-3AD203B41FA5}">
                      <a16:colId xmlns:a16="http://schemas.microsoft.com/office/drawing/2014/main" val="3385396562"/>
                    </a:ext>
                  </a:extLst>
                </a:gridCol>
                <a:gridCol w="1070104">
                  <a:extLst>
                    <a:ext uri="{9D8B030D-6E8A-4147-A177-3AD203B41FA5}">
                      <a16:colId xmlns:a16="http://schemas.microsoft.com/office/drawing/2014/main" val="1248554768"/>
                    </a:ext>
                  </a:extLst>
                </a:gridCol>
                <a:gridCol w="1070104">
                  <a:extLst>
                    <a:ext uri="{9D8B030D-6E8A-4147-A177-3AD203B41FA5}">
                      <a16:colId xmlns:a16="http://schemas.microsoft.com/office/drawing/2014/main" val="2882075103"/>
                    </a:ext>
                  </a:extLst>
                </a:gridCol>
                <a:gridCol w="1311784">
                  <a:extLst>
                    <a:ext uri="{9D8B030D-6E8A-4147-A177-3AD203B41FA5}">
                      <a16:colId xmlns:a16="http://schemas.microsoft.com/office/drawing/2014/main" val="2312982274"/>
                    </a:ext>
                  </a:extLst>
                </a:gridCol>
              </a:tblGrid>
              <a:tr h="381000">
                <a:tc>
                  <a:txBody>
                    <a:bodyPr/>
                    <a:lstStyle/>
                    <a:p>
                      <a:pPr marL="2540" algn="ctr">
                        <a:spcBef>
                          <a:spcPts val="610"/>
                        </a:spcBef>
                        <a:buNone/>
                      </a:pPr>
                      <a:r>
                        <a:rPr lang="en-US" sz="1200" spc="-10" dirty="0">
                          <a:effectLst/>
                        </a:rPr>
                        <a:t>Class</a:t>
                      </a:r>
                      <a:endParaRPr lang="en-IN" sz="1100" dirty="0">
                        <a:effectLst/>
                        <a:latin typeface="Arial MT"/>
                        <a:ea typeface="Arial MT"/>
                        <a:cs typeface="Arial MT"/>
                      </a:endParaRPr>
                    </a:p>
                  </a:txBody>
                  <a:tcPr marL="68580" marR="68580" marT="0" marB="0"/>
                </a:tc>
                <a:tc>
                  <a:txBody>
                    <a:bodyPr/>
                    <a:lstStyle/>
                    <a:p>
                      <a:pPr marL="5715" marR="635" algn="ctr">
                        <a:spcBef>
                          <a:spcPts val="610"/>
                        </a:spcBef>
                        <a:buNone/>
                      </a:pPr>
                      <a:r>
                        <a:rPr lang="en-US" sz="1200" spc="-10">
                          <a:effectLst/>
                        </a:rPr>
                        <a:t>Precision</a:t>
                      </a:r>
                      <a:endParaRPr lang="en-IN" sz="1100">
                        <a:effectLst/>
                        <a:latin typeface="Arial MT"/>
                        <a:ea typeface="Arial MT"/>
                        <a:cs typeface="Arial MT"/>
                      </a:endParaRPr>
                    </a:p>
                  </a:txBody>
                  <a:tcPr marL="68580" marR="68580" marT="0" marB="0"/>
                </a:tc>
                <a:tc>
                  <a:txBody>
                    <a:bodyPr/>
                    <a:lstStyle/>
                    <a:p>
                      <a:pPr marL="3810" marR="1270" algn="ctr">
                        <a:spcBef>
                          <a:spcPts val="610"/>
                        </a:spcBef>
                        <a:buNone/>
                      </a:pPr>
                      <a:r>
                        <a:rPr lang="en-US" sz="1200" spc="-10">
                          <a:effectLst/>
                        </a:rPr>
                        <a:t>Recall</a:t>
                      </a:r>
                      <a:endParaRPr lang="en-IN" sz="1100">
                        <a:effectLst/>
                        <a:latin typeface="Arial MT"/>
                        <a:ea typeface="Arial MT"/>
                        <a:cs typeface="Arial MT"/>
                      </a:endParaRPr>
                    </a:p>
                  </a:txBody>
                  <a:tcPr marL="68580" marR="68580" marT="0" marB="0"/>
                </a:tc>
                <a:tc>
                  <a:txBody>
                    <a:bodyPr/>
                    <a:lstStyle/>
                    <a:p>
                      <a:pPr marL="3810" algn="ctr">
                        <a:spcBef>
                          <a:spcPts val="610"/>
                        </a:spcBef>
                        <a:buNone/>
                      </a:pPr>
                      <a:r>
                        <a:rPr lang="en-US" sz="1200" spc="-10">
                          <a:effectLst/>
                        </a:rPr>
                        <a:t>F1-Score</a:t>
                      </a:r>
                      <a:endParaRPr lang="en-IN" sz="1100">
                        <a:effectLst/>
                        <a:latin typeface="Arial MT"/>
                        <a:ea typeface="Arial MT"/>
                        <a:cs typeface="Arial MT"/>
                      </a:endParaRPr>
                    </a:p>
                  </a:txBody>
                  <a:tcPr marL="68580" marR="68580" marT="0" marB="0"/>
                </a:tc>
                <a:tc>
                  <a:txBody>
                    <a:bodyPr/>
                    <a:lstStyle/>
                    <a:p>
                      <a:pPr marL="4445" algn="ctr">
                        <a:spcBef>
                          <a:spcPts val="610"/>
                        </a:spcBef>
                        <a:buNone/>
                      </a:pPr>
                      <a:r>
                        <a:rPr lang="en-US" sz="1200" spc="-10">
                          <a:effectLst/>
                        </a:rPr>
                        <a:t>Support</a:t>
                      </a:r>
                      <a:endParaRPr lang="en-IN" sz="1100">
                        <a:effectLst/>
                        <a:latin typeface="Arial MT"/>
                        <a:ea typeface="Arial MT"/>
                        <a:cs typeface="Arial MT"/>
                      </a:endParaRPr>
                    </a:p>
                  </a:txBody>
                  <a:tcPr marL="68580" marR="68580" marT="0" marB="0"/>
                </a:tc>
                <a:extLst>
                  <a:ext uri="{0D108BD9-81ED-4DB2-BD59-A6C34878D82A}">
                    <a16:rowId xmlns:a16="http://schemas.microsoft.com/office/drawing/2014/main" val="4231218124"/>
                  </a:ext>
                </a:extLst>
              </a:tr>
              <a:tr h="336550">
                <a:tc>
                  <a:txBody>
                    <a:bodyPr/>
                    <a:lstStyle/>
                    <a:p>
                      <a:pPr marL="75565">
                        <a:spcBef>
                          <a:spcPts val="450"/>
                        </a:spcBef>
                        <a:buNone/>
                      </a:pPr>
                      <a:r>
                        <a:rPr lang="en-US" sz="1200" spc="-10">
                          <a:effectLst/>
                        </a:rPr>
                        <a:t>Negative</a:t>
                      </a:r>
                      <a:endParaRPr lang="en-IN" sz="1100">
                        <a:effectLst/>
                        <a:latin typeface="Arial MT"/>
                        <a:ea typeface="Arial MT"/>
                        <a:cs typeface="Arial MT"/>
                      </a:endParaRPr>
                    </a:p>
                  </a:txBody>
                  <a:tcPr marL="68580" marR="68580" marT="0" marB="0"/>
                </a:tc>
                <a:tc>
                  <a:txBody>
                    <a:bodyPr/>
                    <a:lstStyle/>
                    <a:p>
                      <a:pPr marL="5715" marR="1270" algn="ctr">
                        <a:spcBef>
                          <a:spcPts val="450"/>
                        </a:spcBef>
                        <a:buNone/>
                      </a:pPr>
                      <a:r>
                        <a:rPr lang="en-US" sz="1200" spc="-20">
                          <a:effectLst/>
                        </a:rPr>
                        <a:t>0.83</a:t>
                      </a:r>
                      <a:endParaRPr lang="en-IN" sz="1100">
                        <a:effectLst/>
                        <a:latin typeface="Arial MT"/>
                        <a:ea typeface="Arial MT"/>
                        <a:cs typeface="Arial MT"/>
                      </a:endParaRPr>
                    </a:p>
                  </a:txBody>
                  <a:tcPr marL="68580" marR="68580" marT="0" marB="0"/>
                </a:tc>
                <a:tc>
                  <a:txBody>
                    <a:bodyPr/>
                    <a:lstStyle/>
                    <a:p>
                      <a:pPr marL="3810" marR="1905" algn="ctr">
                        <a:spcBef>
                          <a:spcPts val="450"/>
                        </a:spcBef>
                        <a:buNone/>
                      </a:pPr>
                      <a:r>
                        <a:rPr lang="en-US" sz="1200" spc="-20">
                          <a:effectLst/>
                        </a:rPr>
                        <a:t>0.43</a:t>
                      </a:r>
                      <a:endParaRPr lang="en-IN" sz="1100">
                        <a:effectLst/>
                        <a:latin typeface="Arial MT"/>
                        <a:ea typeface="Arial MT"/>
                        <a:cs typeface="Arial MT"/>
                      </a:endParaRPr>
                    </a:p>
                  </a:txBody>
                  <a:tcPr marL="68580" marR="68580" marT="0" marB="0"/>
                </a:tc>
                <a:tc>
                  <a:txBody>
                    <a:bodyPr/>
                    <a:lstStyle/>
                    <a:p>
                      <a:pPr marL="3810" marR="1270" algn="ctr">
                        <a:spcBef>
                          <a:spcPts val="450"/>
                        </a:spcBef>
                        <a:buNone/>
                      </a:pPr>
                      <a:r>
                        <a:rPr lang="en-US" sz="1200" spc="-20">
                          <a:effectLst/>
                        </a:rPr>
                        <a:t>0.57</a:t>
                      </a:r>
                      <a:endParaRPr lang="en-IN" sz="1100">
                        <a:effectLst/>
                        <a:latin typeface="Arial MT"/>
                        <a:ea typeface="Arial MT"/>
                        <a:cs typeface="Arial MT"/>
                      </a:endParaRPr>
                    </a:p>
                  </a:txBody>
                  <a:tcPr marL="68580" marR="68580" marT="0" marB="0"/>
                </a:tc>
                <a:tc>
                  <a:txBody>
                    <a:bodyPr/>
                    <a:lstStyle/>
                    <a:p>
                      <a:pPr marL="4445" algn="ctr">
                        <a:spcBef>
                          <a:spcPts val="450"/>
                        </a:spcBef>
                        <a:buNone/>
                      </a:pPr>
                      <a:r>
                        <a:rPr lang="en-US" sz="1200" spc="-10">
                          <a:effectLst/>
                        </a:rPr>
                        <a:t>1,698</a:t>
                      </a:r>
                      <a:endParaRPr lang="en-IN" sz="1100">
                        <a:effectLst/>
                        <a:latin typeface="Arial MT"/>
                        <a:ea typeface="Arial MT"/>
                        <a:cs typeface="Arial MT"/>
                      </a:endParaRPr>
                    </a:p>
                  </a:txBody>
                  <a:tcPr marL="68580" marR="68580" marT="0" marB="0"/>
                </a:tc>
                <a:extLst>
                  <a:ext uri="{0D108BD9-81ED-4DB2-BD59-A6C34878D82A}">
                    <a16:rowId xmlns:a16="http://schemas.microsoft.com/office/drawing/2014/main" val="2946188422"/>
                  </a:ext>
                </a:extLst>
              </a:tr>
              <a:tr h="336550">
                <a:tc>
                  <a:txBody>
                    <a:bodyPr/>
                    <a:lstStyle/>
                    <a:p>
                      <a:pPr marL="75565">
                        <a:spcBef>
                          <a:spcPts val="450"/>
                        </a:spcBef>
                        <a:buNone/>
                      </a:pPr>
                      <a:r>
                        <a:rPr lang="en-US" sz="1200" spc="-10">
                          <a:effectLst/>
                        </a:rPr>
                        <a:t>Neutral</a:t>
                      </a:r>
                      <a:endParaRPr lang="en-IN" sz="1100">
                        <a:effectLst/>
                        <a:latin typeface="Arial MT"/>
                        <a:ea typeface="Arial MT"/>
                        <a:cs typeface="Arial MT"/>
                      </a:endParaRPr>
                    </a:p>
                  </a:txBody>
                  <a:tcPr marL="68580" marR="68580" marT="0" marB="0"/>
                </a:tc>
                <a:tc>
                  <a:txBody>
                    <a:bodyPr/>
                    <a:lstStyle/>
                    <a:p>
                      <a:pPr marL="5715" marR="1270" algn="ctr">
                        <a:spcBef>
                          <a:spcPts val="450"/>
                        </a:spcBef>
                        <a:buNone/>
                      </a:pPr>
                      <a:r>
                        <a:rPr lang="en-US" sz="1200" spc="-20">
                          <a:effectLst/>
                        </a:rPr>
                        <a:t>0.81</a:t>
                      </a:r>
                      <a:endParaRPr lang="en-IN" sz="1100">
                        <a:effectLst/>
                        <a:latin typeface="Arial MT"/>
                        <a:ea typeface="Arial MT"/>
                        <a:cs typeface="Arial MT"/>
                      </a:endParaRPr>
                    </a:p>
                  </a:txBody>
                  <a:tcPr marL="68580" marR="68580" marT="0" marB="0"/>
                </a:tc>
                <a:tc>
                  <a:txBody>
                    <a:bodyPr/>
                    <a:lstStyle/>
                    <a:p>
                      <a:pPr marL="3810" marR="1905" algn="ctr">
                        <a:spcBef>
                          <a:spcPts val="450"/>
                        </a:spcBef>
                        <a:buNone/>
                      </a:pPr>
                      <a:r>
                        <a:rPr lang="en-US" sz="1200" spc="-20">
                          <a:effectLst/>
                        </a:rPr>
                        <a:t>0.95</a:t>
                      </a:r>
                      <a:endParaRPr lang="en-IN" sz="1100">
                        <a:effectLst/>
                        <a:latin typeface="Arial MT"/>
                        <a:ea typeface="Arial MT"/>
                        <a:cs typeface="Arial MT"/>
                      </a:endParaRPr>
                    </a:p>
                  </a:txBody>
                  <a:tcPr marL="68580" marR="68580" marT="0" marB="0"/>
                </a:tc>
                <a:tc>
                  <a:txBody>
                    <a:bodyPr/>
                    <a:lstStyle/>
                    <a:p>
                      <a:pPr marL="3810" marR="1270" algn="ctr">
                        <a:spcBef>
                          <a:spcPts val="450"/>
                        </a:spcBef>
                        <a:buNone/>
                      </a:pPr>
                      <a:r>
                        <a:rPr lang="en-US" sz="1200" spc="-20">
                          <a:effectLst/>
                        </a:rPr>
                        <a:t>0.87</a:t>
                      </a:r>
                      <a:endParaRPr lang="en-IN" sz="1100">
                        <a:effectLst/>
                        <a:latin typeface="Arial MT"/>
                        <a:ea typeface="Arial MT"/>
                        <a:cs typeface="Arial MT"/>
                      </a:endParaRPr>
                    </a:p>
                  </a:txBody>
                  <a:tcPr marL="68580" marR="68580" marT="0" marB="0"/>
                </a:tc>
                <a:tc>
                  <a:txBody>
                    <a:bodyPr/>
                    <a:lstStyle/>
                    <a:p>
                      <a:pPr marL="4445" algn="ctr">
                        <a:spcBef>
                          <a:spcPts val="450"/>
                        </a:spcBef>
                        <a:buNone/>
                      </a:pPr>
                      <a:r>
                        <a:rPr lang="en-US" sz="1200" spc="-10">
                          <a:effectLst/>
                        </a:rPr>
                        <a:t>5,439</a:t>
                      </a:r>
                      <a:endParaRPr lang="en-IN" sz="1100">
                        <a:effectLst/>
                        <a:latin typeface="Arial MT"/>
                        <a:ea typeface="Arial MT"/>
                        <a:cs typeface="Arial MT"/>
                      </a:endParaRPr>
                    </a:p>
                  </a:txBody>
                  <a:tcPr marL="68580" marR="68580" marT="0" marB="0"/>
                </a:tc>
                <a:extLst>
                  <a:ext uri="{0D108BD9-81ED-4DB2-BD59-A6C34878D82A}">
                    <a16:rowId xmlns:a16="http://schemas.microsoft.com/office/drawing/2014/main" val="4069232921"/>
                  </a:ext>
                </a:extLst>
              </a:tr>
              <a:tr h="336550">
                <a:tc>
                  <a:txBody>
                    <a:bodyPr/>
                    <a:lstStyle/>
                    <a:p>
                      <a:pPr marL="75565">
                        <a:spcBef>
                          <a:spcPts val="450"/>
                        </a:spcBef>
                        <a:buNone/>
                      </a:pPr>
                      <a:r>
                        <a:rPr lang="en-US" sz="1200" spc="-10">
                          <a:effectLst/>
                        </a:rPr>
                        <a:t>Positive</a:t>
                      </a:r>
                      <a:endParaRPr lang="en-IN" sz="1100">
                        <a:effectLst/>
                        <a:latin typeface="Arial MT"/>
                        <a:ea typeface="Arial MT"/>
                        <a:cs typeface="Arial MT"/>
                      </a:endParaRPr>
                    </a:p>
                  </a:txBody>
                  <a:tcPr marL="68580" marR="68580" marT="0" marB="0"/>
                </a:tc>
                <a:tc>
                  <a:txBody>
                    <a:bodyPr/>
                    <a:lstStyle/>
                    <a:p>
                      <a:pPr marL="5715" marR="1270" algn="ctr">
                        <a:spcBef>
                          <a:spcPts val="450"/>
                        </a:spcBef>
                        <a:buNone/>
                      </a:pPr>
                      <a:r>
                        <a:rPr lang="en-US" sz="1200" spc="-20">
                          <a:effectLst/>
                        </a:rPr>
                        <a:t>0.83</a:t>
                      </a:r>
                      <a:endParaRPr lang="en-IN" sz="1100">
                        <a:effectLst/>
                        <a:latin typeface="Arial MT"/>
                        <a:ea typeface="Arial MT"/>
                        <a:cs typeface="Arial MT"/>
                      </a:endParaRPr>
                    </a:p>
                  </a:txBody>
                  <a:tcPr marL="68580" marR="68580" marT="0" marB="0"/>
                </a:tc>
                <a:tc>
                  <a:txBody>
                    <a:bodyPr/>
                    <a:lstStyle/>
                    <a:p>
                      <a:pPr marL="3810" marR="1905" algn="ctr">
                        <a:spcBef>
                          <a:spcPts val="450"/>
                        </a:spcBef>
                        <a:buNone/>
                      </a:pPr>
                      <a:r>
                        <a:rPr lang="en-US" sz="1200" spc="-20">
                          <a:effectLst/>
                        </a:rPr>
                        <a:t>0.80</a:t>
                      </a:r>
                      <a:endParaRPr lang="en-IN" sz="1100">
                        <a:effectLst/>
                        <a:latin typeface="Arial MT"/>
                        <a:ea typeface="Arial MT"/>
                        <a:cs typeface="Arial MT"/>
                      </a:endParaRPr>
                    </a:p>
                  </a:txBody>
                  <a:tcPr marL="68580" marR="68580" marT="0" marB="0"/>
                </a:tc>
                <a:tc>
                  <a:txBody>
                    <a:bodyPr/>
                    <a:lstStyle/>
                    <a:p>
                      <a:pPr marL="3810" marR="1270" algn="ctr">
                        <a:spcBef>
                          <a:spcPts val="450"/>
                        </a:spcBef>
                        <a:buNone/>
                      </a:pPr>
                      <a:r>
                        <a:rPr lang="en-US" sz="1200" spc="-20">
                          <a:effectLst/>
                        </a:rPr>
                        <a:t>0.82</a:t>
                      </a:r>
                      <a:endParaRPr lang="en-IN" sz="1100">
                        <a:effectLst/>
                        <a:latin typeface="Arial MT"/>
                        <a:ea typeface="Arial MT"/>
                        <a:cs typeface="Arial MT"/>
                      </a:endParaRPr>
                    </a:p>
                  </a:txBody>
                  <a:tcPr marL="68580" marR="68580" marT="0" marB="0"/>
                </a:tc>
                <a:tc>
                  <a:txBody>
                    <a:bodyPr/>
                    <a:lstStyle/>
                    <a:p>
                      <a:pPr marL="4445" algn="ctr">
                        <a:spcBef>
                          <a:spcPts val="450"/>
                        </a:spcBef>
                        <a:buNone/>
                      </a:pPr>
                      <a:r>
                        <a:rPr lang="en-US" sz="1200" spc="-10" dirty="0">
                          <a:effectLst/>
                        </a:rPr>
                        <a:t>3,682</a:t>
                      </a:r>
                      <a:endParaRPr lang="en-IN" sz="1100" dirty="0">
                        <a:effectLst/>
                        <a:latin typeface="Arial MT"/>
                        <a:ea typeface="Arial MT"/>
                        <a:cs typeface="Arial MT"/>
                      </a:endParaRPr>
                    </a:p>
                  </a:txBody>
                  <a:tcPr marL="68580" marR="68580" marT="0" marB="0"/>
                </a:tc>
                <a:extLst>
                  <a:ext uri="{0D108BD9-81ED-4DB2-BD59-A6C34878D82A}">
                    <a16:rowId xmlns:a16="http://schemas.microsoft.com/office/drawing/2014/main" val="1769407108"/>
                  </a:ext>
                </a:extLst>
              </a:tr>
              <a:tr h="357505">
                <a:tc>
                  <a:txBody>
                    <a:bodyPr/>
                    <a:lstStyle/>
                    <a:p>
                      <a:pPr marL="75565">
                        <a:spcBef>
                          <a:spcPts val="450"/>
                        </a:spcBef>
                        <a:buNone/>
                      </a:pPr>
                      <a:r>
                        <a:rPr lang="en-US" sz="1200" spc="-10" dirty="0">
                          <a:effectLst/>
                        </a:rPr>
                        <a:t>Accuracy</a:t>
                      </a:r>
                      <a:endParaRPr lang="en-IN" sz="1100" dirty="0">
                        <a:effectLst/>
                        <a:latin typeface="Arial MT"/>
                        <a:ea typeface="Arial MT"/>
                        <a:cs typeface="Arial MT"/>
                      </a:endParaRPr>
                    </a:p>
                  </a:txBody>
                  <a:tcPr marL="68580" marR="68580" marT="0" marB="0"/>
                </a:tc>
                <a:tc>
                  <a:txBody>
                    <a:bodyPr/>
                    <a:lstStyle/>
                    <a:p>
                      <a:pPr marL="75565">
                        <a:spcBef>
                          <a:spcPts val="450"/>
                        </a:spcBef>
                        <a:buNone/>
                      </a:pPr>
                      <a:r>
                        <a:rPr lang="en-US" sz="1200">
                          <a:effectLst/>
                        </a:rPr>
                        <a:t> </a:t>
                      </a:r>
                      <a:endParaRPr lang="en-IN" sz="1100">
                        <a:effectLst/>
                        <a:latin typeface="Arial MT"/>
                        <a:ea typeface="Arial MT"/>
                        <a:cs typeface="Arial MT"/>
                      </a:endParaRPr>
                    </a:p>
                  </a:txBody>
                  <a:tcPr marL="68580" marR="68580" marT="0" marB="0"/>
                </a:tc>
                <a:tc>
                  <a:txBody>
                    <a:bodyPr/>
                    <a:lstStyle/>
                    <a:p>
                      <a:pPr marL="75565">
                        <a:spcBef>
                          <a:spcPts val="450"/>
                        </a:spcBef>
                        <a:buNone/>
                      </a:pPr>
                      <a:r>
                        <a:rPr lang="en-US" sz="1200" dirty="0">
                          <a:effectLst/>
                        </a:rPr>
                        <a:t> </a:t>
                      </a:r>
                      <a:endParaRPr lang="en-IN" sz="1100" dirty="0">
                        <a:effectLst/>
                        <a:latin typeface="Arial MT"/>
                        <a:ea typeface="Arial MT"/>
                        <a:cs typeface="Arial MT"/>
                      </a:endParaRPr>
                    </a:p>
                  </a:txBody>
                  <a:tcPr marL="68580" marR="68580" marT="0" marB="0"/>
                </a:tc>
                <a:tc>
                  <a:txBody>
                    <a:bodyPr/>
                    <a:lstStyle/>
                    <a:p>
                      <a:pPr marL="3810" marR="1270" algn="ctr">
                        <a:spcBef>
                          <a:spcPts val="450"/>
                        </a:spcBef>
                        <a:buNone/>
                      </a:pPr>
                      <a:r>
                        <a:rPr lang="en-US" sz="1200" spc="-20">
                          <a:effectLst/>
                        </a:rPr>
                        <a:t>0.82</a:t>
                      </a:r>
                      <a:endParaRPr lang="en-IN" sz="1100">
                        <a:effectLst/>
                        <a:latin typeface="Arial MT"/>
                        <a:ea typeface="Arial MT"/>
                        <a:cs typeface="Arial MT"/>
                      </a:endParaRPr>
                    </a:p>
                  </a:txBody>
                  <a:tcPr marL="68580" marR="68580" marT="0" marB="0"/>
                </a:tc>
                <a:tc>
                  <a:txBody>
                    <a:bodyPr/>
                    <a:lstStyle/>
                    <a:p>
                      <a:pPr marL="4445" algn="ctr">
                        <a:spcBef>
                          <a:spcPts val="450"/>
                        </a:spcBef>
                        <a:buNone/>
                      </a:pPr>
                      <a:r>
                        <a:rPr lang="en-US" sz="1200" spc="-10" dirty="0">
                          <a:effectLst/>
                        </a:rPr>
                        <a:t>10,819</a:t>
                      </a:r>
                      <a:endParaRPr lang="en-IN" sz="1100" dirty="0">
                        <a:effectLst/>
                        <a:latin typeface="Arial MT"/>
                        <a:ea typeface="Arial MT"/>
                        <a:cs typeface="Arial MT"/>
                      </a:endParaRPr>
                    </a:p>
                  </a:txBody>
                  <a:tcPr marL="68580" marR="68580" marT="0" marB="0"/>
                </a:tc>
                <a:extLst>
                  <a:ext uri="{0D108BD9-81ED-4DB2-BD59-A6C34878D82A}">
                    <a16:rowId xmlns:a16="http://schemas.microsoft.com/office/drawing/2014/main" val="795222749"/>
                  </a:ext>
                </a:extLst>
              </a:tr>
            </a:tbl>
          </a:graphicData>
        </a:graphic>
      </p:graphicFrame>
      <p:sp>
        <p:nvSpPr>
          <p:cNvPr id="3" name="Slide Number Placeholder 2">
            <a:extLst>
              <a:ext uri="{FF2B5EF4-FFF2-40B4-BE49-F238E27FC236}">
                <a16:creationId xmlns:a16="http://schemas.microsoft.com/office/drawing/2014/main" id="{19E6B509-0E00-3EAB-4E5E-7A9EBD588006}"/>
              </a:ext>
            </a:extLst>
          </p:cNvPr>
          <p:cNvSpPr>
            <a:spLocks noGrp="1"/>
          </p:cNvSpPr>
          <p:nvPr>
            <p:ph type="sldNum" sz="quarter" idx="12"/>
          </p:nvPr>
        </p:nvSpPr>
        <p:spPr/>
        <p:txBody>
          <a:bodyPr/>
          <a:lstStyle/>
          <a:p>
            <a:fld id="{C1FF6DA9-008F-8B48-92A6-B652298478BF}" type="slidenum">
              <a:rPr lang="en-US" smtClean="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468345D-2CEC-E6B0-3042-8476777F0068}"/>
              </a:ext>
            </a:extLst>
          </p:cNvPr>
          <p:cNvSpPr txBox="1"/>
          <p:nvPr/>
        </p:nvSpPr>
        <p:spPr>
          <a:xfrm>
            <a:off x="446567" y="1244009"/>
            <a:ext cx="7719238" cy="313932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Analysis of Results</a:t>
            </a:r>
          </a:p>
          <a:p>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model achieved an overall accuracy of 82%, indicating reliable sentiment prediction performance.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Neutral sentiment class achieved the highest recall (0.95), showing excellent detection of neutral tweets.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Positive sentiment class achieved balanced precision and recall, resulting in strong classification performance.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Negative sentiment class showed lower recall, indicating that some negative tweets were misclassified as neutral or positive.</a:t>
            </a:r>
          </a:p>
          <a:p>
            <a:endParaRPr lang="en-IN" dirty="0">
              <a:latin typeface="Times New Roman" panose="02020603050405020304" pitchFamily="18" charset="0"/>
              <a:cs typeface="Times New Roman" panose="02020603050405020304" pitchFamily="18" charset="0"/>
            </a:endParaRPr>
          </a:p>
        </p:txBody>
      </p:sp>
      <p:sp>
        <p:nvSpPr>
          <p:cNvPr id="8" name="Title 1">
            <a:extLst>
              <a:ext uri="{FF2B5EF4-FFF2-40B4-BE49-F238E27FC236}">
                <a16:creationId xmlns:a16="http://schemas.microsoft.com/office/drawing/2014/main" id="{B64E2F54-58DB-C485-6849-8F04CA793871}"/>
              </a:ext>
            </a:extLst>
          </p:cNvPr>
          <p:cNvSpPr>
            <a:spLocks noGrp="1"/>
          </p:cNvSpPr>
          <p:nvPr>
            <p:ph type="title"/>
          </p:nvPr>
        </p:nvSpPr>
        <p:spPr>
          <a:xfrm>
            <a:off x="350874" y="0"/>
            <a:ext cx="3646967" cy="1066764"/>
          </a:xfrm>
        </p:spPr>
        <p:txBody>
          <a:bodyPr>
            <a:normAutofit/>
          </a:bodyPr>
          <a:lstStyle/>
          <a:p>
            <a:r>
              <a:rPr sz="3600" dirty="0">
                <a:latin typeface="Times New Roman" panose="02020603050405020304" pitchFamily="18" charset="0"/>
                <a:cs typeface="Times New Roman" panose="02020603050405020304" pitchFamily="18" charset="0"/>
              </a:rPr>
              <a:t>Model Evaluation</a:t>
            </a:r>
          </a:p>
        </p:txBody>
      </p:sp>
      <p:sp>
        <p:nvSpPr>
          <p:cNvPr id="2" name="Slide Number Placeholder 1">
            <a:extLst>
              <a:ext uri="{FF2B5EF4-FFF2-40B4-BE49-F238E27FC236}">
                <a16:creationId xmlns:a16="http://schemas.microsoft.com/office/drawing/2014/main" id="{8237294F-15AA-7FC0-8653-D2838DAD3494}"/>
              </a:ext>
            </a:extLst>
          </p:cNvPr>
          <p:cNvSpPr>
            <a:spLocks noGrp="1"/>
          </p:cNvSpPr>
          <p:nvPr>
            <p:ph type="sldNum" sz="quarter" idx="12"/>
          </p:nvPr>
        </p:nvSpPr>
        <p:spPr/>
        <p:txBody>
          <a:bodyPr/>
          <a:lstStyle/>
          <a:p>
            <a:fld id="{C1FF6DA9-008F-8B48-92A6-B652298478BF}" type="slidenum">
              <a:rPr lang="en-US" smtClean="0"/>
              <a:t>21</a:t>
            </a:fld>
            <a:endParaRPr lang="en-US"/>
          </a:p>
        </p:txBody>
      </p:sp>
    </p:spTree>
    <p:extLst>
      <p:ext uri="{BB962C8B-B14F-4D97-AF65-F5344CB8AC3E}">
        <p14:creationId xmlns:p14="http://schemas.microsoft.com/office/powerpoint/2010/main" val="807964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CCF4C93-983F-A93F-68A8-CC1C0C5A7F0A}"/>
              </a:ext>
            </a:extLst>
          </p:cNvPr>
          <p:cNvSpPr txBox="1"/>
          <p:nvPr/>
        </p:nvSpPr>
        <p:spPr>
          <a:xfrm>
            <a:off x="202019" y="121234"/>
            <a:ext cx="8632972" cy="6091155"/>
          </a:xfrm>
          <a:prstGeom prst="rect">
            <a:avLst/>
          </a:prstGeom>
          <a:noFill/>
        </p:spPr>
        <p:txBody>
          <a:bodyPr wrap="square">
            <a:spAutoFit/>
          </a:bodyPr>
          <a:lstStyle/>
          <a:p>
            <a:pPr marL="0" lvl="1">
              <a:spcBef>
                <a:spcPts val="1210"/>
              </a:spcBef>
              <a:tabLst>
                <a:tab pos="0" algn="l"/>
              </a:tabLst>
            </a:pPr>
            <a:r>
              <a:rPr lang="en-US" b="1"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Confusion</a:t>
            </a:r>
            <a:r>
              <a:rPr lang="en-US" b="1" spc="-5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 </a:t>
            </a:r>
            <a:r>
              <a:rPr lang="en-US" b="1"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Matrix</a:t>
            </a:r>
            <a:r>
              <a:rPr lang="en-US" b="1" spc="-5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 </a:t>
            </a:r>
            <a:r>
              <a:rPr lang="en-US" b="1" spc="-1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Analysis</a:t>
            </a:r>
            <a:endParaRPr lang="en-IN" b="1" dirty="0">
              <a:effectLst/>
              <a:latin typeface="Times New Roman" panose="02020603050405020304" pitchFamily="18" charset="0"/>
              <a:ea typeface="Arial" panose="020B0604020202020204" pitchFamily="34" charset="0"/>
              <a:cs typeface="Times New Roman" panose="02020603050405020304" pitchFamily="18" charset="0"/>
            </a:endParaRPr>
          </a:p>
          <a:p>
            <a:pPr algn="just">
              <a:spcBef>
                <a:spcPts val="610"/>
              </a:spcBef>
              <a:buNone/>
            </a:pPr>
            <a:r>
              <a:rPr lang="en-US" dirty="0">
                <a:solidFill>
                  <a:srgbClr val="000000"/>
                </a:solidFill>
                <a:effectLst/>
                <a:latin typeface="Times New Roman" panose="02020603050405020304" pitchFamily="18" charset="0"/>
                <a:ea typeface="Arial MT"/>
                <a:cs typeface="Times New Roman" panose="02020603050405020304" pitchFamily="18" charset="0"/>
              </a:rPr>
              <a:t>The confusion matrix provides a detailed view of prediction outcomes across all three sentiment </a:t>
            </a:r>
            <a:r>
              <a:rPr lang="en-US" spc="-10" dirty="0">
                <a:solidFill>
                  <a:srgbClr val="000000"/>
                </a:solidFill>
                <a:effectLst/>
                <a:latin typeface="Times New Roman" panose="02020603050405020304" pitchFamily="18" charset="0"/>
                <a:ea typeface="Arial MT"/>
                <a:cs typeface="Times New Roman" panose="02020603050405020304" pitchFamily="18" charset="0"/>
              </a:rPr>
              <a:t>classes:</a:t>
            </a:r>
            <a:endParaRPr lang="en-US" spc="-10" dirty="0">
              <a:solidFill>
                <a:srgbClr val="000000"/>
              </a:solidFill>
              <a:latin typeface="Times New Roman" panose="02020603050405020304" pitchFamily="18" charset="0"/>
              <a:ea typeface="Arial MT"/>
              <a:cs typeface="Times New Roman" panose="02020603050405020304" pitchFamily="18" charset="0"/>
            </a:endParaRPr>
          </a:p>
          <a:p>
            <a:pPr algn="just">
              <a:lnSpc>
                <a:spcPct val="131000"/>
              </a:lnSpc>
              <a:spcBef>
                <a:spcPts val="610"/>
              </a:spcBef>
              <a:buNone/>
            </a:pPr>
            <a:endParaRPr lang="en-IN" dirty="0">
              <a:effectLst/>
              <a:latin typeface="Times New Roman" panose="02020603050405020304" pitchFamily="18" charset="0"/>
              <a:ea typeface="Arial MT"/>
              <a:cs typeface="Times New Roman" panose="02020603050405020304" pitchFamily="18" charset="0"/>
            </a:endParaRPr>
          </a:p>
          <a:p>
            <a:pPr algn="just">
              <a:lnSpc>
                <a:spcPct val="131000"/>
              </a:lnSpc>
              <a:spcBef>
                <a:spcPts val="610"/>
              </a:spcBef>
              <a:buNone/>
            </a:pPr>
            <a:endParaRPr lang="en-IN" dirty="0">
              <a:latin typeface="Times New Roman" panose="02020603050405020304" pitchFamily="18" charset="0"/>
              <a:ea typeface="Arial MT"/>
              <a:cs typeface="Times New Roman" panose="02020603050405020304" pitchFamily="18" charset="0"/>
            </a:endParaRPr>
          </a:p>
          <a:p>
            <a:pPr algn="just">
              <a:lnSpc>
                <a:spcPct val="131000"/>
              </a:lnSpc>
              <a:spcBef>
                <a:spcPts val="610"/>
              </a:spcBef>
              <a:buNone/>
            </a:pPr>
            <a:endParaRPr lang="en-IN" dirty="0">
              <a:latin typeface="Times New Roman" panose="02020603050405020304" pitchFamily="18" charset="0"/>
              <a:ea typeface="Arial MT"/>
              <a:cs typeface="Times New Roman" panose="02020603050405020304" pitchFamily="18" charset="0"/>
            </a:endParaRPr>
          </a:p>
          <a:p>
            <a:pPr algn="just">
              <a:lnSpc>
                <a:spcPct val="131000"/>
              </a:lnSpc>
              <a:spcBef>
                <a:spcPts val="610"/>
              </a:spcBef>
              <a:buNone/>
            </a:pPr>
            <a:endParaRPr lang="en-IN" dirty="0">
              <a:effectLst/>
              <a:latin typeface="Times New Roman" panose="02020603050405020304" pitchFamily="18" charset="0"/>
              <a:ea typeface="Arial MT"/>
              <a:cs typeface="Times New Roman" panose="02020603050405020304" pitchFamily="18" charset="0"/>
            </a:endParaRPr>
          </a:p>
          <a:p>
            <a:pPr>
              <a:lnSpc>
                <a:spcPct val="115000"/>
              </a:lnSpc>
              <a:spcBef>
                <a:spcPts val="15"/>
              </a:spcBef>
              <a:buNone/>
            </a:pPr>
            <a:r>
              <a:rPr lang="en-IN" b="1" dirty="0">
                <a:solidFill>
                  <a:srgbClr val="000000"/>
                </a:solidFill>
                <a:effectLst/>
                <a:latin typeface="Times New Roman" panose="02020603050405020304" pitchFamily="18" charset="0"/>
                <a:ea typeface="Arial MT"/>
                <a:cs typeface="Times New Roman" panose="02020603050405020304" pitchFamily="18" charset="0"/>
              </a:rPr>
              <a:t>Confusion Matrix Interpretation</a:t>
            </a:r>
            <a:endParaRPr lang="en-IN" dirty="0">
              <a:effectLst/>
              <a:latin typeface="Times New Roman" panose="02020603050405020304" pitchFamily="18" charset="0"/>
              <a:ea typeface="Arial MT"/>
              <a:cs typeface="Times New Roman" panose="02020603050405020304" pitchFamily="18" charset="0"/>
            </a:endParaRPr>
          </a:p>
          <a:p>
            <a:pPr marL="342900" lvl="0" indent="-342900">
              <a:lnSpc>
                <a:spcPct val="115000"/>
              </a:lnSpc>
              <a:spcBef>
                <a:spcPts val="15"/>
              </a:spcBef>
              <a:buSzPts val="1000"/>
              <a:buFont typeface="Symbol" panose="05050102010706020507" pitchFamily="18" charset="2"/>
              <a:buChar char=""/>
            </a:pPr>
            <a:r>
              <a:rPr lang="en-IN" dirty="0">
                <a:solidFill>
                  <a:srgbClr val="000000"/>
                </a:solidFill>
                <a:effectLst/>
                <a:latin typeface="Times New Roman" panose="02020603050405020304" pitchFamily="18" charset="0"/>
                <a:ea typeface="Arial MT"/>
                <a:cs typeface="Times New Roman" panose="02020603050405020304" pitchFamily="18" charset="0"/>
              </a:rPr>
              <a:t>735 negative tweets were correctly classified as negative. </a:t>
            </a:r>
            <a:endParaRPr lang="en-IN" dirty="0">
              <a:effectLst/>
              <a:latin typeface="Times New Roman" panose="02020603050405020304" pitchFamily="18" charset="0"/>
              <a:ea typeface="Arial MT"/>
              <a:cs typeface="Times New Roman" panose="02020603050405020304" pitchFamily="18" charset="0"/>
            </a:endParaRPr>
          </a:p>
          <a:p>
            <a:pPr marL="342900" lvl="0" indent="-342900">
              <a:lnSpc>
                <a:spcPct val="115000"/>
              </a:lnSpc>
              <a:spcBef>
                <a:spcPts val="15"/>
              </a:spcBef>
              <a:buSzPts val="1000"/>
              <a:buFont typeface="Symbol" panose="05050102010706020507" pitchFamily="18" charset="2"/>
              <a:buChar char=""/>
            </a:pPr>
            <a:r>
              <a:rPr lang="en-IN" dirty="0">
                <a:solidFill>
                  <a:srgbClr val="000000"/>
                </a:solidFill>
                <a:effectLst/>
                <a:latin typeface="Times New Roman" panose="02020603050405020304" pitchFamily="18" charset="0"/>
                <a:ea typeface="Arial MT"/>
                <a:cs typeface="Times New Roman" panose="02020603050405020304" pitchFamily="18" charset="0"/>
              </a:rPr>
              <a:t>5,172 neutral tweets were correctly classified as neutral. </a:t>
            </a:r>
            <a:endParaRPr lang="en-IN" dirty="0">
              <a:effectLst/>
              <a:latin typeface="Times New Roman" panose="02020603050405020304" pitchFamily="18" charset="0"/>
              <a:ea typeface="Arial MT"/>
              <a:cs typeface="Times New Roman" panose="02020603050405020304" pitchFamily="18" charset="0"/>
            </a:endParaRPr>
          </a:p>
          <a:p>
            <a:pPr marL="342900" lvl="0" indent="-342900">
              <a:lnSpc>
                <a:spcPct val="115000"/>
              </a:lnSpc>
              <a:spcBef>
                <a:spcPts val="15"/>
              </a:spcBef>
              <a:buSzPts val="1000"/>
              <a:buFont typeface="Symbol" panose="05050102010706020507" pitchFamily="18" charset="2"/>
              <a:buChar char=""/>
            </a:pPr>
            <a:r>
              <a:rPr lang="en-IN" dirty="0">
                <a:solidFill>
                  <a:srgbClr val="000000"/>
                </a:solidFill>
                <a:effectLst/>
                <a:latin typeface="Times New Roman" panose="02020603050405020304" pitchFamily="18" charset="0"/>
                <a:ea typeface="Arial MT"/>
                <a:cs typeface="Times New Roman" panose="02020603050405020304" pitchFamily="18" charset="0"/>
              </a:rPr>
              <a:t>2,949 positive tweets were correctly classified as positive. </a:t>
            </a:r>
            <a:endParaRPr lang="en-IN" dirty="0">
              <a:latin typeface="Times New Roman" panose="02020603050405020304" pitchFamily="18" charset="0"/>
              <a:ea typeface="Arial MT"/>
              <a:cs typeface="Times New Roman" panose="02020603050405020304" pitchFamily="18" charset="0"/>
            </a:endParaRPr>
          </a:p>
          <a:p>
            <a:pPr lvl="0">
              <a:lnSpc>
                <a:spcPct val="115000"/>
              </a:lnSpc>
              <a:spcBef>
                <a:spcPts val="15"/>
              </a:spcBef>
              <a:buSzPts val="1000"/>
            </a:pPr>
            <a:r>
              <a:rPr lang="en-IN" dirty="0">
                <a:solidFill>
                  <a:srgbClr val="000000"/>
                </a:solidFill>
                <a:effectLst/>
                <a:latin typeface="Times New Roman" panose="02020603050405020304" pitchFamily="18" charset="0"/>
                <a:ea typeface="Arial MT"/>
                <a:cs typeface="Times New Roman" panose="02020603050405020304" pitchFamily="18" charset="0"/>
              </a:rPr>
              <a:t>The matrix also reveals misclassifications:</a:t>
            </a:r>
            <a:endParaRPr lang="en-IN" dirty="0">
              <a:effectLst/>
              <a:latin typeface="Times New Roman" panose="02020603050405020304" pitchFamily="18" charset="0"/>
              <a:ea typeface="Arial MT"/>
              <a:cs typeface="Times New Roman" panose="02020603050405020304" pitchFamily="18" charset="0"/>
            </a:endParaRPr>
          </a:p>
          <a:p>
            <a:pPr marL="342900" lvl="0" indent="-342900">
              <a:lnSpc>
                <a:spcPct val="115000"/>
              </a:lnSpc>
              <a:spcBef>
                <a:spcPts val="15"/>
              </a:spcBef>
              <a:buSzPts val="1000"/>
              <a:buFont typeface="Symbol" panose="05050102010706020507" pitchFamily="18" charset="2"/>
              <a:buChar char=""/>
            </a:pPr>
            <a:r>
              <a:rPr lang="en-IN" dirty="0">
                <a:solidFill>
                  <a:srgbClr val="000000"/>
                </a:solidFill>
                <a:effectLst/>
                <a:latin typeface="Times New Roman" panose="02020603050405020304" pitchFamily="18" charset="0"/>
                <a:ea typeface="Arial MT"/>
                <a:cs typeface="Times New Roman" panose="02020603050405020304" pitchFamily="18" charset="0"/>
              </a:rPr>
              <a:t>Some negative tweets were predicted as neutral or positive. </a:t>
            </a:r>
            <a:endParaRPr lang="en-IN" dirty="0">
              <a:effectLst/>
              <a:latin typeface="Times New Roman" panose="02020603050405020304" pitchFamily="18" charset="0"/>
              <a:ea typeface="Arial MT"/>
              <a:cs typeface="Times New Roman" panose="02020603050405020304" pitchFamily="18" charset="0"/>
            </a:endParaRPr>
          </a:p>
          <a:p>
            <a:pPr marL="342900" lvl="0" indent="-342900">
              <a:lnSpc>
                <a:spcPct val="115000"/>
              </a:lnSpc>
              <a:spcBef>
                <a:spcPts val="15"/>
              </a:spcBef>
              <a:buSzPts val="1000"/>
              <a:buFont typeface="Symbol" panose="05050102010706020507" pitchFamily="18" charset="2"/>
              <a:buChar char=""/>
            </a:pPr>
            <a:r>
              <a:rPr lang="en-IN" dirty="0">
                <a:solidFill>
                  <a:srgbClr val="000000"/>
                </a:solidFill>
                <a:effectLst/>
                <a:latin typeface="Times New Roman" panose="02020603050405020304" pitchFamily="18" charset="0"/>
                <a:ea typeface="Arial MT"/>
                <a:cs typeface="Times New Roman" panose="02020603050405020304" pitchFamily="18" charset="0"/>
              </a:rPr>
              <a:t>Certain positive tweets overlapped with neutral sentiment. </a:t>
            </a:r>
            <a:endParaRPr lang="en-IN" dirty="0">
              <a:effectLst/>
              <a:latin typeface="Times New Roman" panose="02020603050405020304" pitchFamily="18" charset="0"/>
              <a:ea typeface="Arial MT"/>
              <a:cs typeface="Times New Roman" panose="02020603050405020304" pitchFamily="18" charset="0"/>
            </a:endParaRPr>
          </a:p>
          <a:p>
            <a:pPr marL="342900" lvl="0" indent="-342900">
              <a:lnSpc>
                <a:spcPct val="115000"/>
              </a:lnSpc>
              <a:spcBef>
                <a:spcPts val="15"/>
              </a:spcBef>
              <a:buSzPts val="1000"/>
              <a:buFont typeface="Symbol" panose="05050102010706020507" pitchFamily="18" charset="2"/>
              <a:buChar char=""/>
            </a:pPr>
            <a:r>
              <a:rPr lang="en-IN" dirty="0">
                <a:solidFill>
                  <a:srgbClr val="000000"/>
                </a:solidFill>
                <a:effectLst/>
                <a:latin typeface="Times New Roman" panose="02020603050405020304" pitchFamily="18" charset="0"/>
                <a:ea typeface="Arial MT"/>
                <a:cs typeface="Times New Roman" panose="02020603050405020304" pitchFamily="18" charset="0"/>
              </a:rPr>
              <a:t>Neutral tweets occasionally showed confusion with other sentiment classes.</a:t>
            </a:r>
            <a:endParaRPr lang="en-IN" dirty="0">
              <a:effectLst/>
              <a:latin typeface="Times New Roman" panose="02020603050405020304" pitchFamily="18" charset="0"/>
              <a:ea typeface="Arial MT"/>
              <a:cs typeface="Times New Roman" panose="02020603050405020304" pitchFamily="18" charset="0"/>
            </a:endParaRPr>
          </a:p>
          <a:p>
            <a:pPr indent="-90170" algn="just">
              <a:lnSpc>
                <a:spcPct val="115000"/>
              </a:lnSpc>
              <a:spcBef>
                <a:spcPts val="15"/>
              </a:spcBef>
              <a:buNone/>
              <a:tabLst>
                <a:tab pos="4951095" algn="l"/>
              </a:tabLst>
            </a:pPr>
            <a:r>
              <a:rPr lang="en-IN" dirty="0">
                <a:solidFill>
                  <a:srgbClr val="000000"/>
                </a:solidFill>
                <a:effectLst/>
                <a:latin typeface="Times New Roman" panose="02020603050405020304" pitchFamily="18" charset="0"/>
                <a:ea typeface="Arial MT"/>
                <a:cs typeface="Times New Roman" panose="02020603050405020304" pitchFamily="18" charset="0"/>
              </a:rPr>
              <a:t>The confusion matrix helps evaluate the strengths and weaknesses of the classifier and provides insights improving future model performance.</a:t>
            </a:r>
            <a:endParaRPr lang="en-IN" dirty="0">
              <a:effectLst/>
              <a:latin typeface="Times New Roman" panose="02020603050405020304" pitchFamily="18" charset="0"/>
              <a:ea typeface="Arial MT"/>
              <a:cs typeface="Times New Roman" panose="02020603050405020304" pitchFamily="18" charset="0"/>
            </a:endParaRPr>
          </a:p>
        </p:txBody>
      </p:sp>
      <p:graphicFrame>
        <p:nvGraphicFramePr>
          <p:cNvPr id="7" name="Table 6">
            <a:extLst>
              <a:ext uri="{FF2B5EF4-FFF2-40B4-BE49-F238E27FC236}">
                <a16:creationId xmlns:a16="http://schemas.microsoft.com/office/drawing/2014/main" id="{EC991FA9-6EE1-ABEC-7AF7-371FB5FAB422}"/>
              </a:ext>
            </a:extLst>
          </p:cNvPr>
          <p:cNvGraphicFramePr>
            <a:graphicFrameLocks noGrp="1"/>
          </p:cNvGraphicFramePr>
          <p:nvPr>
            <p:extLst>
              <p:ext uri="{D42A27DB-BD31-4B8C-83A1-F6EECF244321}">
                <p14:modId xmlns:p14="http://schemas.microsoft.com/office/powerpoint/2010/main" val="1054578391"/>
              </p:ext>
            </p:extLst>
          </p:nvPr>
        </p:nvGraphicFramePr>
        <p:xfrm>
          <a:off x="309008" y="1137685"/>
          <a:ext cx="6442664" cy="1648046"/>
        </p:xfrm>
        <a:graphic>
          <a:graphicData uri="http://schemas.openxmlformats.org/drawingml/2006/table">
            <a:tbl>
              <a:tblPr firstRow="1" firstCol="1" lastRow="1" lastCol="1" bandRow="1" bandCol="1">
                <a:tableStyleId>{5940675A-B579-460E-94D1-54222C63F5DA}</a:tableStyleId>
              </a:tblPr>
              <a:tblGrid>
                <a:gridCol w="1641282">
                  <a:extLst>
                    <a:ext uri="{9D8B030D-6E8A-4147-A177-3AD203B41FA5}">
                      <a16:colId xmlns:a16="http://schemas.microsoft.com/office/drawing/2014/main" val="3278035011"/>
                    </a:ext>
                  </a:extLst>
                </a:gridCol>
                <a:gridCol w="1528832">
                  <a:extLst>
                    <a:ext uri="{9D8B030D-6E8A-4147-A177-3AD203B41FA5}">
                      <a16:colId xmlns:a16="http://schemas.microsoft.com/office/drawing/2014/main" val="1639453415"/>
                    </a:ext>
                  </a:extLst>
                </a:gridCol>
                <a:gridCol w="1528063">
                  <a:extLst>
                    <a:ext uri="{9D8B030D-6E8A-4147-A177-3AD203B41FA5}">
                      <a16:colId xmlns:a16="http://schemas.microsoft.com/office/drawing/2014/main" val="3842708872"/>
                    </a:ext>
                  </a:extLst>
                </a:gridCol>
                <a:gridCol w="1744487">
                  <a:extLst>
                    <a:ext uri="{9D8B030D-6E8A-4147-A177-3AD203B41FA5}">
                      <a16:colId xmlns:a16="http://schemas.microsoft.com/office/drawing/2014/main" val="2651482906"/>
                    </a:ext>
                  </a:extLst>
                </a:gridCol>
              </a:tblGrid>
              <a:tr h="448829">
                <a:tc>
                  <a:txBody>
                    <a:bodyPr/>
                    <a:lstStyle/>
                    <a:p>
                      <a:pPr marL="205105">
                        <a:spcBef>
                          <a:spcPts val="610"/>
                        </a:spcBef>
                        <a:buNone/>
                      </a:pPr>
                      <a:r>
                        <a:rPr lang="en-US" sz="1400" dirty="0">
                          <a:effectLst/>
                          <a:latin typeface="Times New Roman" panose="02020603050405020304" pitchFamily="18" charset="0"/>
                          <a:cs typeface="Times New Roman" panose="02020603050405020304" pitchFamily="18" charset="0"/>
                        </a:rPr>
                        <a:t>Actual</a:t>
                      </a:r>
                      <a:r>
                        <a:rPr lang="en-US" sz="1400" spc="-25" dirty="0">
                          <a:effectLst/>
                          <a:latin typeface="Times New Roman" panose="02020603050405020304" pitchFamily="18" charset="0"/>
                          <a:cs typeface="Times New Roman" panose="02020603050405020304" pitchFamily="18" charset="0"/>
                        </a:rPr>
                        <a:t> </a:t>
                      </a:r>
                      <a:r>
                        <a:rPr lang="en-US" sz="1400" dirty="0">
                          <a:effectLst/>
                          <a:latin typeface="Times New Roman" panose="02020603050405020304" pitchFamily="18" charset="0"/>
                          <a:cs typeface="Times New Roman" panose="02020603050405020304" pitchFamily="18" charset="0"/>
                        </a:rPr>
                        <a:t>\</a:t>
                      </a:r>
                      <a:r>
                        <a:rPr lang="en-US" sz="1400" spc="-15" dirty="0">
                          <a:effectLst/>
                          <a:latin typeface="Times New Roman" panose="02020603050405020304" pitchFamily="18" charset="0"/>
                          <a:cs typeface="Times New Roman" panose="02020603050405020304" pitchFamily="18" charset="0"/>
                        </a:rPr>
                        <a:t> </a:t>
                      </a:r>
                      <a:r>
                        <a:rPr lang="en-US" sz="1400" spc="-10" dirty="0">
                          <a:effectLst/>
                          <a:latin typeface="Times New Roman" panose="02020603050405020304" pitchFamily="18" charset="0"/>
                          <a:cs typeface="Times New Roman" panose="02020603050405020304" pitchFamily="18" charset="0"/>
                        </a:rPr>
                        <a:t>Predicted</a:t>
                      </a:r>
                      <a:endParaRPr lang="en-IN" sz="1200" dirty="0">
                        <a:effectLst/>
                        <a:latin typeface="Times New Roman" panose="02020603050405020304" pitchFamily="18" charset="0"/>
                        <a:ea typeface="Arial MT"/>
                        <a:cs typeface="Times New Roman" panose="02020603050405020304" pitchFamily="18" charset="0"/>
                      </a:endParaRPr>
                    </a:p>
                  </a:txBody>
                  <a:tcPr marL="68580" marR="68580" marT="0" marB="0"/>
                </a:tc>
                <a:tc>
                  <a:txBody>
                    <a:bodyPr/>
                    <a:lstStyle/>
                    <a:p>
                      <a:pPr marL="4445" marR="1270" algn="ctr">
                        <a:spcBef>
                          <a:spcPts val="610"/>
                        </a:spcBef>
                        <a:buNone/>
                      </a:pPr>
                      <a:r>
                        <a:rPr lang="en-US" sz="1400">
                          <a:effectLst/>
                          <a:latin typeface="Times New Roman" panose="02020603050405020304" pitchFamily="18" charset="0"/>
                          <a:cs typeface="Times New Roman" panose="02020603050405020304" pitchFamily="18" charset="0"/>
                        </a:rPr>
                        <a:t>Predicted</a:t>
                      </a:r>
                      <a:r>
                        <a:rPr lang="en-US" sz="1400" spc="-50">
                          <a:effectLst/>
                          <a:latin typeface="Times New Roman" panose="02020603050405020304" pitchFamily="18" charset="0"/>
                          <a:cs typeface="Times New Roman" panose="02020603050405020304" pitchFamily="18" charset="0"/>
                        </a:rPr>
                        <a:t> </a:t>
                      </a:r>
                      <a:r>
                        <a:rPr lang="en-US" sz="1400" spc="-10">
                          <a:effectLst/>
                          <a:latin typeface="Times New Roman" panose="02020603050405020304" pitchFamily="18" charset="0"/>
                          <a:cs typeface="Times New Roman" panose="02020603050405020304" pitchFamily="18" charset="0"/>
                        </a:rPr>
                        <a:t>Negative</a:t>
                      </a:r>
                      <a:endParaRPr lang="en-IN" sz="1200">
                        <a:effectLst/>
                        <a:latin typeface="Times New Roman" panose="02020603050405020304" pitchFamily="18" charset="0"/>
                        <a:ea typeface="Arial MT"/>
                        <a:cs typeface="Times New Roman" panose="02020603050405020304" pitchFamily="18" charset="0"/>
                      </a:endParaRPr>
                    </a:p>
                  </a:txBody>
                  <a:tcPr marL="68580" marR="68580" marT="0" marB="0"/>
                </a:tc>
                <a:tc>
                  <a:txBody>
                    <a:bodyPr/>
                    <a:lstStyle/>
                    <a:p>
                      <a:pPr marL="4445" marR="2540" algn="ctr">
                        <a:spcBef>
                          <a:spcPts val="610"/>
                        </a:spcBef>
                        <a:buNone/>
                      </a:pPr>
                      <a:r>
                        <a:rPr lang="en-US" sz="1400">
                          <a:effectLst/>
                          <a:latin typeface="Times New Roman" panose="02020603050405020304" pitchFamily="18" charset="0"/>
                          <a:cs typeface="Times New Roman" panose="02020603050405020304" pitchFamily="18" charset="0"/>
                        </a:rPr>
                        <a:t>Predicted</a:t>
                      </a:r>
                      <a:r>
                        <a:rPr lang="en-US" sz="1400" spc="-50">
                          <a:effectLst/>
                          <a:latin typeface="Times New Roman" panose="02020603050405020304" pitchFamily="18" charset="0"/>
                          <a:cs typeface="Times New Roman" panose="02020603050405020304" pitchFamily="18" charset="0"/>
                        </a:rPr>
                        <a:t> </a:t>
                      </a:r>
                      <a:r>
                        <a:rPr lang="en-US" sz="1400" spc="-10">
                          <a:effectLst/>
                          <a:latin typeface="Times New Roman" panose="02020603050405020304" pitchFamily="18" charset="0"/>
                          <a:cs typeface="Times New Roman" panose="02020603050405020304" pitchFamily="18" charset="0"/>
                        </a:rPr>
                        <a:t>Neutral</a:t>
                      </a:r>
                      <a:endParaRPr lang="en-IN" sz="1200">
                        <a:effectLst/>
                        <a:latin typeface="Times New Roman" panose="02020603050405020304" pitchFamily="18" charset="0"/>
                        <a:ea typeface="Arial MT"/>
                        <a:cs typeface="Times New Roman" panose="02020603050405020304" pitchFamily="18" charset="0"/>
                      </a:endParaRPr>
                    </a:p>
                  </a:txBody>
                  <a:tcPr marL="68580" marR="68580" marT="0" marB="0"/>
                </a:tc>
                <a:tc>
                  <a:txBody>
                    <a:bodyPr/>
                    <a:lstStyle/>
                    <a:p>
                      <a:pPr marL="4445" marR="2540" algn="ctr">
                        <a:spcBef>
                          <a:spcPts val="610"/>
                        </a:spcBef>
                        <a:buNone/>
                      </a:pPr>
                      <a:r>
                        <a:rPr lang="en-US" sz="1400">
                          <a:effectLst/>
                          <a:latin typeface="Times New Roman" panose="02020603050405020304" pitchFamily="18" charset="0"/>
                          <a:cs typeface="Times New Roman" panose="02020603050405020304" pitchFamily="18" charset="0"/>
                        </a:rPr>
                        <a:t>Predicted</a:t>
                      </a:r>
                      <a:r>
                        <a:rPr lang="en-US" sz="1400" spc="-40">
                          <a:effectLst/>
                          <a:latin typeface="Times New Roman" panose="02020603050405020304" pitchFamily="18" charset="0"/>
                          <a:cs typeface="Times New Roman" panose="02020603050405020304" pitchFamily="18" charset="0"/>
                        </a:rPr>
                        <a:t> </a:t>
                      </a:r>
                      <a:r>
                        <a:rPr lang="en-US" sz="1400" spc="-10">
                          <a:effectLst/>
                          <a:latin typeface="Times New Roman" panose="02020603050405020304" pitchFamily="18" charset="0"/>
                          <a:cs typeface="Times New Roman" panose="02020603050405020304" pitchFamily="18" charset="0"/>
                        </a:rPr>
                        <a:t>Positive</a:t>
                      </a:r>
                      <a:endParaRPr lang="en-IN" sz="1200">
                        <a:effectLst/>
                        <a:latin typeface="Times New Roman" panose="02020603050405020304" pitchFamily="18" charset="0"/>
                        <a:ea typeface="Arial MT"/>
                        <a:cs typeface="Times New Roman" panose="02020603050405020304" pitchFamily="18" charset="0"/>
                      </a:endParaRPr>
                    </a:p>
                  </a:txBody>
                  <a:tcPr marL="68580" marR="68580" marT="0" marB="0"/>
                </a:tc>
                <a:extLst>
                  <a:ext uri="{0D108BD9-81ED-4DB2-BD59-A6C34878D82A}">
                    <a16:rowId xmlns:a16="http://schemas.microsoft.com/office/drawing/2014/main" val="3171473885"/>
                  </a:ext>
                </a:extLst>
              </a:tr>
              <a:tr h="399739">
                <a:tc>
                  <a:txBody>
                    <a:bodyPr/>
                    <a:lstStyle/>
                    <a:p>
                      <a:pPr marL="75565">
                        <a:spcBef>
                          <a:spcPts val="465"/>
                        </a:spcBef>
                        <a:buNone/>
                      </a:pPr>
                      <a:r>
                        <a:rPr lang="en-US" sz="1400">
                          <a:effectLst/>
                          <a:latin typeface="Times New Roman" panose="02020603050405020304" pitchFamily="18" charset="0"/>
                          <a:cs typeface="Times New Roman" panose="02020603050405020304" pitchFamily="18" charset="0"/>
                        </a:rPr>
                        <a:t>Actual</a:t>
                      </a:r>
                      <a:r>
                        <a:rPr lang="en-US" sz="1400" spc="-40">
                          <a:effectLst/>
                          <a:latin typeface="Times New Roman" panose="02020603050405020304" pitchFamily="18" charset="0"/>
                          <a:cs typeface="Times New Roman" panose="02020603050405020304" pitchFamily="18" charset="0"/>
                        </a:rPr>
                        <a:t> </a:t>
                      </a:r>
                      <a:r>
                        <a:rPr lang="en-US" sz="1400" spc="-10">
                          <a:effectLst/>
                          <a:latin typeface="Times New Roman" panose="02020603050405020304" pitchFamily="18" charset="0"/>
                          <a:cs typeface="Times New Roman" panose="02020603050405020304" pitchFamily="18" charset="0"/>
                        </a:rPr>
                        <a:t>Negative</a:t>
                      </a:r>
                      <a:endParaRPr lang="en-IN" sz="1200">
                        <a:effectLst/>
                        <a:latin typeface="Times New Roman" panose="02020603050405020304" pitchFamily="18" charset="0"/>
                        <a:ea typeface="Arial MT"/>
                        <a:cs typeface="Times New Roman" panose="02020603050405020304" pitchFamily="18" charset="0"/>
                      </a:endParaRPr>
                    </a:p>
                  </a:txBody>
                  <a:tcPr marL="68580" marR="68580" marT="0" marB="0"/>
                </a:tc>
                <a:tc>
                  <a:txBody>
                    <a:bodyPr/>
                    <a:lstStyle/>
                    <a:p>
                      <a:pPr marL="4445" algn="ctr">
                        <a:spcBef>
                          <a:spcPts val="465"/>
                        </a:spcBef>
                        <a:buNone/>
                      </a:pPr>
                      <a:r>
                        <a:rPr lang="en-US" sz="1400" dirty="0">
                          <a:effectLst/>
                          <a:latin typeface="Times New Roman" panose="02020603050405020304" pitchFamily="18" charset="0"/>
                          <a:cs typeface="Times New Roman" panose="02020603050405020304" pitchFamily="18" charset="0"/>
                        </a:rPr>
                        <a:t>735</a:t>
                      </a:r>
                      <a:r>
                        <a:rPr lang="en-US" sz="1400" spc="-25" dirty="0">
                          <a:effectLst/>
                          <a:latin typeface="Times New Roman" panose="02020603050405020304" pitchFamily="18" charset="0"/>
                          <a:cs typeface="Times New Roman" panose="02020603050405020304" pitchFamily="18" charset="0"/>
                        </a:rPr>
                        <a:t> </a:t>
                      </a:r>
                      <a:endParaRPr lang="en-IN" sz="1200" dirty="0">
                        <a:effectLst/>
                        <a:latin typeface="Times New Roman" panose="02020603050405020304" pitchFamily="18" charset="0"/>
                        <a:ea typeface="Arial MT"/>
                        <a:cs typeface="Times New Roman" panose="02020603050405020304" pitchFamily="18" charset="0"/>
                      </a:endParaRPr>
                    </a:p>
                  </a:txBody>
                  <a:tcPr marL="68580" marR="68580" marT="0" marB="0"/>
                </a:tc>
                <a:tc>
                  <a:txBody>
                    <a:bodyPr/>
                    <a:lstStyle/>
                    <a:p>
                      <a:pPr marL="4445" marR="635" algn="ctr">
                        <a:spcBef>
                          <a:spcPts val="465"/>
                        </a:spcBef>
                        <a:buNone/>
                      </a:pPr>
                      <a:r>
                        <a:rPr lang="en-US" sz="1400" spc="-25">
                          <a:effectLst/>
                          <a:latin typeface="Times New Roman" panose="02020603050405020304" pitchFamily="18" charset="0"/>
                          <a:cs typeface="Times New Roman" panose="02020603050405020304" pitchFamily="18" charset="0"/>
                        </a:rPr>
                        <a:t>593</a:t>
                      </a:r>
                      <a:endParaRPr lang="en-IN" sz="1200">
                        <a:effectLst/>
                        <a:latin typeface="Times New Roman" panose="02020603050405020304" pitchFamily="18" charset="0"/>
                        <a:ea typeface="Arial MT"/>
                        <a:cs typeface="Times New Roman" panose="02020603050405020304" pitchFamily="18" charset="0"/>
                      </a:endParaRPr>
                    </a:p>
                  </a:txBody>
                  <a:tcPr marL="68580" marR="68580" marT="0" marB="0"/>
                </a:tc>
                <a:tc>
                  <a:txBody>
                    <a:bodyPr/>
                    <a:lstStyle/>
                    <a:p>
                      <a:pPr marL="4445" marR="1270" algn="ctr">
                        <a:spcBef>
                          <a:spcPts val="465"/>
                        </a:spcBef>
                        <a:buNone/>
                      </a:pPr>
                      <a:r>
                        <a:rPr lang="en-US" sz="1400" spc="-25">
                          <a:effectLst/>
                          <a:latin typeface="Times New Roman" panose="02020603050405020304" pitchFamily="18" charset="0"/>
                          <a:cs typeface="Times New Roman" panose="02020603050405020304" pitchFamily="18" charset="0"/>
                        </a:rPr>
                        <a:t>370</a:t>
                      </a:r>
                      <a:endParaRPr lang="en-IN" sz="1200">
                        <a:effectLst/>
                        <a:latin typeface="Times New Roman" panose="02020603050405020304" pitchFamily="18" charset="0"/>
                        <a:ea typeface="Arial MT"/>
                        <a:cs typeface="Times New Roman" panose="02020603050405020304" pitchFamily="18" charset="0"/>
                      </a:endParaRPr>
                    </a:p>
                  </a:txBody>
                  <a:tcPr marL="68580" marR="68580" marT="0" marB="0"/>
                </a:tc>
                <a:extLst>
                  <a:ext uri="{0D108BD9-81ED-4DB2-BD59-A6C34878D82A}">
                    <a16:rowId xmlns:a16="http://schemas.microsoft.com/office/drawing/2014/main" val="3043606103"/>
                  </a:ext>
                </a:extLst>
              </a:tr>
              <a:tr h="399739">
                <a:tc>
                  <a:txBody>
                    <a:bodyPr/>
                    <a:lstStyle/>
                    <a:p>
                      <a:pPr marL="75565">
                        <a:spcBef>
                          <a:spcPts val="450"/>
                        </a:spcBef>
                        <a:buNone/>
                      </a:pPr>
                      <a:r>
                        <a:rPr lang="en-US" sz="1400">
                          <a:effectLst/>
                          <a:latin typeface="Times New Roman" panose="02020603050405020304" pitchFamily="18" charset="0"/>
                          <a:cs typeface="Times New Roman" panose="02020603050405020304" pitchFamily="18" charset="0"/>
                        </a:rPr>
                        <a:t>Actual</a:t>
                      </a:r>
                      <a:r>
                        <a:rPr lang="en-US" sz="1400" spc="-40">
                          <a:effectLst/>
                          <a:latin typeface="Times New Roman" panose="02020603050405020304" pitchFamily="18" charset="0"/>
                          <a:cs typeface="Times New Roman" panose="02020603050405020304" pitchFamily="18" charset="0"/>
                        </a:rPr>
                        <a:t> </a:t>
                      </a:r>
                      <a:r>
                        <a:rPr lang="en-US" sz="1400" spc="-10">
                          <a:effectLst/>
                          <a:latin typeface="Times New Roman" panose="02020603050405020304" pitchFamily="18" charset="0"/>
                          <a:cs typeface="Times New Roman" panose="02020603050405020304" pitchFamily="18" charset="0"/>
                        </a:rPr>
                        <a:t>Neutral</a:t>
                      </a:r>
                      <a:endParaRPr lang="en-IN" sz="1200">
                        <a:effectLst/>
                        <a:latin typeface="Times New Roman" panose="02020603050405020304" pitchFamily="18" charset="0"/>
                        <a:ea typeface="Arial MT"/>
                        <a:cs typeface="Times New Roman" panose="02020603050405020304" pitchFamily="18" charset="0"/>
                      </a:endParaRPr>
                    </a:p>
                  </a:txBody>
                  <a:tcPr marL="68580" marR="68580" marT="0" marB="0"/>
                </a:tc>
                <a:tc>
                  <a:txBody>
                    <a:bodyPr/>
                    <a:lstStyle/>
                    <a:p>
                      <a:pPr marL="4445" algn="ctr">
                        <a:spcBef>
                          <a:spcPts val="450"/>
                        </a:spcBef>
                        <a:buNone/>
                      </a:pPr>
                      <a:r>
                        <a:rPr lang="en-US" sz="1400" spc="-25" dirty="0">
                          <a:effectLst/>
                          <a:latin typeface="Times New Roman" panose="02020603050405020304" pitchFamily="18" charset="0"/>
                          <a:cs typeface="Times New Roman" panose="02020603050405020304" pitchFamily="18" charset="0"/>
                        </a:rPr>
                        <a:t>50</a:t>
                      </a:r>
                      <a:endParaRPr lang="en-IN" sz="1200" dirty="0">
                        <a:effectLst/>
                        <a:latin typeface="Times New Roman" panose="02020603050405020304" pitchFamily="18" charset="0"/>
                        <a:ea typeface="Arial MT"/>
                        <a:cs typeface="Times New Roman" panose="02020603050405020304" pitchFamily="18" charset="0"/>
                      </a:endParaRPr>
                    </a:p>
                  </a:txBody>
                  <a:tcPr marL="68580" marR="68580" marT="0" marB="0"/>
                </a:tc>
                <a:tc>
                  <a:txBody>
                    <a:bodyPr/>
                    <a:lstStyle/>
                    <a:p>
                      <a:pPr marL="4445" marR="1905" algn="ctr">
                        <a:spcBef>
                          <a:spcPts val="455"/>
                        </a:spcBef>
                        <a:buNone/>
                      </a:pPr>
                      <a:r>
                        <a:rPr lang="en-US" sz="1400" dirty="0">
                          <a:effectLst/>
                          <a:latin typeface="Times New Roman" panose="02020603050405020304" pitchFamily="18" charset="0"/>
                          <a:cs typeface="Times New Roman" panose="02020603050405020304" pitchFamily="18" charset="0"/>
                        </a:rPr>
                        <a:t>5,172</a:t>
                      </a:r>
                      <a:r>
                        <a:rPr lang="en-US" sz="1400" spc="-40" dirty="0">
                          <a:effectLst/>
                          <a:latin typeface="Times New Roman" panose="02020603050405020304" pitchFamily="18" charset="0"/>
                          <a:cs typeface="Times New Roman" panose="02020603050405020304" pitchFamily="18" charset="0"/>
                        </a:rPr>
                        <a:t> </a:t>
                      </a:r>
                      <a:endParaRPr lang="en-IN" sz="1200" dirty="0">
                        <a:effectLst/>
                        <a:latin typeface="Times New Roman" panose="02020603050405020304" pitchFamily="18" charset="0"/>
                        <a:ea typeface="Arial MT"/>
                        <a:cs typeface="Times New Roman" panose="02020603050405020304" pitchFamily="18" charset="0"/>
                      </a:endParaRPr>
                    </a:p>
                  </a:txBody>
                  <a:tcPr marL="68580" marR="68580" marT="0" marB="0"/>
                </a:tc>
                <a:tc>
                  <a:txBody>
                    <a:bodyPr/>
                    <a:lstStyle/>
                    <a:p>
                      <a:pPr marL="4445" marR="1270" algn="ctr">
                        <a:spcBef>
                          <a:spcPts val="450"/>
                        </a:spcBef>
                        <a:buNone/>
                      </a:pPr>
                      <a:r>
                        <a:rPr lang="en-US" sz="1400" spc="-25">
                          <a:effectLst/>
                          <a:latin typeface="Times New Roman" panose="02020603050405020304" pitchFamily="18" charset="0"/>
                          <a:cs typeface="Times New Roman" panose="02020603050405020304" pitchFamily="18" charset="0"/>
                        </a:rPr>
                        <a:t>217</a:t>
                      </a:r>
                      <a:endParaRPr lang="en-IN" sz="1200">
                        <a:effectLst/>
                        <a:latin typeface="Times New Roman" panose="02020603050405020304" pitchFamily="18" charset="0"/>
                        <a:ea typeface="Arial MT"/>
                        <a:cs typeface="Times New Roman" panose="02020603050405020304" pitchFamily="18" charset="0"/>
                      </a:endParaRPr>
                    </a:p>
                  </a:txBody>
                  <a:tcPr marL="68580" marR="68580" marT="0" marB="0"/>
                </a:tc>
                <a:extLst>
                  <a:ext uri="{0D108BD9-81ED-4DB2-BD59-A6C34878D82A}">
                    <a16:rowId xmlns:a16="http://schemas.microsoft.com/office/drawing/2014/main" val="450213790"/>
                  </a:ext>
                </a:extLst>
              </a:tr>
              <a:tr h="399739">
                <a:tc>
                  <a:txBody>
                    <a:bodyPr/>
                    <a:lstStyle/>
                    <a:p>
                      <a:pPr marL="75565">
                        <a:spcBef>
                          <a:spcPts val="450"/>
                        </a:spcBef>
                        <a:buNone/>
                      </a:pPr>
                      <a:r>
                        <a:rPr lang="en-US" sz="1400" dirty="0">
                          <a:effectLst/>
                          <a:latin typeface="Times New Roman" panose="02020603050405020304" pitchFamily="18" charset="0"/>
                          <a:cs typeface="Times New Roman" panose="02020603050405020304" pitchFamily="18" charset="0"/>
                        </a:rPr>
                        <a:t>Actual</a:t>
                      </a:r>
                      <a:r>
                        <a:rPr lang="en-US" sz="1400" spc="-40" dirty="0">
                          <a:effectLst/>
                          <a:latin typeface="Times New Roman" panose="02020603050405020304" pitchFamily="18" charset="0"/>
                          <a:cs typeface="Times New Roman" panose="02020603050405020304" pitchFamily="18" charset="0"/>
                        </a:rPr>
                        <a:t> </a:t>
                      </a:r>
                      <a:r>
                        <a:rPr lang="en-US" sz="1400" spc="-10" dirty="0">
                          <a:effectLst/>
                          <a:latin typeface="Times New Roman" panose="02020603050405020304" pitchFamily="18" charset="0"/>
                          <a:cs typeface="Times New Roman" panose="02020603050405020304" pitchFamily="18" charset="0"/>
                        </a:rPr>
                        <a:t>Positive</a:t>
                      </a:r>
                      <a:endParaRPr lang="en-IN" sz="1200" dirty="0">
                        <a:effectLst/>
                        <a:latin typeface="Times New Roman" panose="02020603050405020304" pitchFamily="18" charset="0"/>
                        <a:ea typeface="Arial MT"/>
                        <a:cs typeface="Times New Roman" panose="02020603050405020304" pitchFamily="18" charset="0"/>
                      </a:endParaRPr>
                    </a:p>
                  </a:txBody>
                  <a:tcPr marL="68580" marR="68580" marT="0" marB="0"/>
                </a:tc>
                <a:tc>
                  <a:txBody>
                    <a:bodyPr/>
                    <a:lstStyle/>
                    <a:p>
                      <a:pPr marL="4445" algn="ctr">
                        <a:spcBef>
                          <a:spcPts val="450"/>
                        </a:spcBef>
                        <a:buNone/>
                      </a:pPr>
                      <a:r>
                        <a:rPr lang="en-US" sz="1400" spc="-25" dirty="0">
                          <a:effectLst/>
                          <a:latin typeface="Times New Roman" panose="02020603050405020304" pitchFamily="18" charset="0"/>
                          <a:cs typeface="Times New Roman" panose="02020603050405020304" pitchFamily="18" charset="0"/>
                        </a:rPr>
                        <a:t>98</a:t>
                      </a:r>
                      <a:endParaRPr lang="en-IN" sz="1200" dirty="0">
                        <a:effectLst/>
                        <a:latin typeface="Times New Roman" panose="02020603050405020304" pitchFamily="18" charset="0"/>
                        <a:ea typeface="Arial MT"/>
                        <a:cs typeface="Times New Roman" panose="02020603050405020304" pitchFamily="18" charset="0"/>
                      </a:endParaRPr>
                    </a:p>
                  </a:txBody>
                  <a:tcPr marL="68580" marR="68580" marT="0" marB="0"/>
                </a:tc>
                <a:tc>
                  <a:txBody>
                    <a:bodyPr/>
                    <a:lstStyle/>
                    <a:p>
                      <a:pPr marL="4445" marR="635" algn="ctr">
                        <a:spcBef>
                          <a:spcPts val="450"/>
                        </a:spcBef>
                        <a:buNone/>
                      </a:pPr>
                      <a:r>
                        <a:rPr lang="en-US" sz="1400" spc="-25">
                          <a:effectLst/>
                          <a:latin typeface="Times New Roman" panose="02020603050405020304" pitchFamily="18" charset="0"/>
                          <a:cs typeface="Times New Roman" panose="02020603050405020304" pitchFamily="18" charset="0"/>
                        </a:rPr>
                        <a:t>635</a:t>
                      </a:r>
                      <a:endParaRPr lang="en-IN" sz="1200">
                        <a:effectLst/>
                        <a:latin typeface="Times New Roman" panose="02020603050405020304" pitchFamily="18" charset="0"/>
                        <a:ea typeface="Arial MT"/>
                        <a:cs typeface="Times New Roman" panose="02020603050405020304" pitchFamily="18" charset="0"/>
                      </a:endParaRPr>
                    </a:p>
                  </a:txBody>
                  <a:tcPr marL="68580" marR="68580" marT="0" marB="0"/>
                </a:tc>
                <a:tc>
                  <a:txBody>
                    <a:bodyPr/>
                    <a:lstStyle/>
                    <a:p>
                      <a:pPr marL="4445" marR="2540" algn="ctr">
                        <a:spcBef>
                          <a:spcPts val="455"/>
                        </a:spcBef>
                        <a:buNone/>
                      </a:pPr>
                      <a:r>
                        <a:rPr lang="en-US" sz="1400" dirty="0">
                          <a:effectLst/>
                          <a:latin typeface="Times New Roman" panose="02020603050405020304" pitchFamily="18" charset="0"/>
                          <a:cs typeface="Times New Roman" panose="02020603050405020304" pitchFamily="18" charset="0"/>
                        </a:rPr>
                        <a:t>2,949</a:t>
                      </a:r>
                      <a:r>
                        <a:rPr lang="en-US" sz="1400" spc="-40" dirty="0">
                          <a:effectLst/>
                          <a:latin typeface="Times New Roman" panose="02020603050405020304" pitchFamily="18" charset="0"/>
                          <a:cs typeface="Times New Roman" panose="02020603050405020304" pitchFamily="18" charset="0"/>
                        </a:rPr>
                        <a:t> </a:t>
                      </a:r>
                      <a:endParaRPr lang="en-IN" sz="1200" dirty="0">
                        <a:effectLst/>
                        <a:latin typeface="Times New Roman" panose="02020603050405020304" pitchFamily="18" charset="0"/>
                        <a:ea typeface="Arial MT"/>
                        <a:cs typeface="Times New Roman" panose="02020603050405020304" pitchFamily="18" charset="0"/>
                      </a:endParaRPr>
                    </a:p>
                  </a:txBody>
                  <a:tcPr marL="68580" marR="68580" marT="0" marB="0"/>
                </a:tc>
                <a:extLst>
                  <a:ext uri="{0D108BD9-81ED-4DB2-BD59-A6C34878D82A}">
                    <a16:rowId xmlns:a16="http://schemas.microsoft.com/office/drawing/2014/main" val="749403795"/>
                  </a:ext>
                </a:extLst>
              </a:tr>
            </a:tbl>
          </a:graphicData>
        </a:graphic>
      </p:graphicFrame>
      <p:sp>
        <p:nvSpPr>
          <p:cNvPr id="2" name="Slide Number Placeholder 1">
            <a:extLst>
              <a:ext uri="{FF2B5EF4-FFF2-40B4-BE49-F238E27FC236}">
                <a16:creationId xmlns:a16="http://schemas.microsoft.com/office/drawing/2014/main" id="{9A56B299-B000-0B06-59E2-8F3B2E47012E}"/>
              </a:ext>
            </a:extLst>
          </p:cNvPr>
          <p:cNvSpPr>
            <a:spLocks noGrp="1"/>
          </p:cNvSpPr>
          <p:nvPr>
            <p:ph type="sldNum" sz="quarter" idx="12"/>
          </p:nvPr>
        </p:nvSpPr>
        <p:spPr/>
        <p:txBody>
          <a:bodyPr/>
          <a:lstStyle/>
          <a:p>
            <a:fld id="{C1FF6DA9-008F-8B48-92A6-B652298478BF}" type="slidenum">
              <a:rPr lang="en-US" smtClean="0"/>
              <a:t>22</a:t>
            </a:fld>
            <a:endParaRPr lang="en-US"/>
          </a:p>
        </p:txBody>
      </p:sp>
    </p:spTree>
    <p:extLst>
      <p:ext uri="{BB962C8B-B14F-4D97-AF65-F5344CB8AC3E}">
        <p14:creationId xmlns:p14="http://schemas.microsoft.com/office/powerpoint/2010/main" val="12862177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6038"/>
            <a:ext cx="4274288" cy="1143000"/>
          </a:xfrm>
        </p:spPr>
        <p:txBody>
          <a:bodyPr>
            <a:normAutofit/>
          </a:bodyPr>
          <a:lstStyle/>
          <a:p>
            <a:r>
              <a:rPr sz="3600" dirty="0">
                <a:latin typeface="Times New Roman" panose="02020603050405020304" pitchFamily="18" charset="0"/>
                <a:cs typeface="Times New Roman" panose="02020603050405020304" pitchFamily="18" charset="0"/>
              </a:rPr>
              <a:t>Results &amp; Insights</a:t>
            </a:r>
          </a:p>
        </p:txBody>
      </p:sp>
      <p:sp>
        <p:nvSpPr>
          <p:cNvPr id="3" name="Content Placeholder 2"/>
          <p:cNvSpPr>
            <a:spLocks noGrp="1"/>
          </p:cNvSpPr>
          <p:nvPr>
            <p:ph idx="1"/>
          </p:nvPr>
        </p:nvSpPr>
        <p:spPr>
          <a:xfrm>
            <a:off x="297712" y="1189038"/>
            <a:ext cx="8229600" cy="4525963"/>
          </a:xfrm>
        </p:spPr>
        <p:txBody>
          <a:bodyPr>
            <a:normAutofit/>
          </a:bodyPr>
          <a:lstStyle/>
          <a:p>
            <a:pPr lvl="0"/>
            <a:r>
              <a:rPr lang="en-IN" sz="1800" dirty="0">
                <a:latin typeface="Times New Roman" panose="02020603050405020304" pitchFamily="18" charset="0"/>
                <a:cs typeface="Times New Roman" panose="02020603050405020304" pitchFamily="18" charset="0"/>
              </a:rPr>
              <a:t>Strong Overall Accuracy (82%): The model achieved an overall accuracy of 82%, which means it correctly classified most tweets into their appropriate sentiment categories. This indicates good overall model performance.</a:t>
            </a:r>
            <a:endParaRPr lang="en-IN" sz="1800" b="1" dirty="0">
              <a:latin typeface="Times New Roman" panose="02020603050405020304" pitchFamily="18" charset="0"/>
              <a:cs typeface="Times New Roman" panose="02020603050405020304" pitchFamily="18" charset="0"/>
            </a:endParaRPr>
          </a:p>
          <a:p>
            <a:pPr lvl="0"/>
            <a:r>
              <a:rPr lang="en-IN" sz="1800" dirty="0">
                <a:latin typeface="Times New Roman" panose="02020603050405020304" pitchFamily="18" charset="0"/>
                <a:cs typeface="Times New Roman" panose="02020603050405020304" pitchFamily="18" charset="0"/>
              </a:rPr>
              <a:t>Best Performance in Neutral Sentiment: The Neutral sentiment class achieved the highest classification performance among all categories. The model was highly effective in identifying tweets containing factual or emotionless content.</a:t>
            </a:r>
            <a:endParaRPr lang="en-IN" sz="1800" b="1" dirty="0">
              <a:latin typeface="Times New Roman" panose="02020603050405020304" pitchFamily="18" charset="0"/>
              <a:cs typeface="Times New Roman" panose="02020603050405020304" pitchFamily="18" charset="0"/>
            </a:endParaRPr>
          </a:p>
          <a:p>
            <a:pPr lvl="0"/>
            <a:r>
              <a:rPr lang="en-IN" sz="1800" dirty="0">
                <a:latin typeface="Times New Roman" panose="02020603050405020304" pitchFamily="18" charset="0"/>
                <a:cs typeface="Times New Roman" panose="02020603050405020304" pitchFamily="18" charset="0"/>
              </a:rPr>
              <a:t>Balanced Positive Sentiment Prediction: The Positive sentiment class showed balanced precision and recall values, meaning the model predicted positive tweets accurately and consistently without many incorrect classifications.</a:t>
            </a:r>
            <a:endParaRPr lang="en-IN" sz="1800" b="1" dirty="0">
              <a:latin typeface="Times New Roman" panose="02020603050405020304" pitchFamily="18" charset="0"/>
              <a:cs typeface="Times New Roman" panose="02020603050405020304" pitchFamily="18" charset="0"/>
            </a:endParaRPr>
          </a:p>
          <a:p>
            <a:pPr lvl="0"/>
            <a:r>
              <a:rPr lang="en-IN" sz="1800" dirty="0">
                <a:latin typeface="Times New Roman" panose="02020603050405020304" pitchFamily="18" charset="0"/>
                <a:cs typeface="Times New Roman" panose="02020603050405020304" pitchFamily="18" charset="0"/>
              </a:rPr>
              <a:t>Lower Recall for Negative Sentiment: The Negative sentiment category showed lower recall compared to other classes. This indicates that some negative tweets were incorrectly classified as positive or neutral by the model.</a:t>
            </a:r>
            <a:endParaRPr lang="en-IN" sz="1800" b="1" dirty="0">
              <a:latin typeface="Times New Roman" panose="02020603050405020304" pitchFamily="18" charset="0"/>
              <a:cs typeface="Times New Roman" panose="02020603050405020304" pitchFamily="18" charset="0"/>
            </a:endParaRPr>
          </a:p>
          <a:p>
            <a:pPr lvl="0"/>
            <a:r>
              <a:rPr lang="en-IN" sz="1800" dirty="0">
                <a:latin typeface="Times New Roman" panose="02020603050405020304" pitchFamily="18" charset="0"/>
                <a:cs typeface="Times New Roman" panose="02020603050405020304" pitchFamily="18" charset="0"/>
              </a:rPr>
              <a:t>Possible Reason for Misclassification: Negative tweets on social media often contain sarcasm, mixed emotions, or informal language, which makes accurate classification more difficult for the model.</a:t>
            </a:r>
            <a:endParaRPr lang="en-IN" sz="1800"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D34F48E-99D0-93FD-5BF2-C2468A8459A0}"/>
              </a:ext>
            </a:extLst>
          </p:cNvPr>
          <p:cNvSpPr>
            <a:spLocks noGrp="1"/>
          </p:cNvSpPr>
          <p:nvPr>
            <p:ph type="sldNum" sz="quarter" idx="12"/>
          </p:nvPr>
        </p:nvSpPr>
        <p:spPr/>
        <p:txBody>
          <a:bodyPr/>
          <a:lstStyle/>
          <a:p>
            <a:fld id="{C1FF6DA9-008F-8B48-92A6-B652298478BF}" type="slidenum">
              <a:rPr lang="en-US" smtClean="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18286"/>
            <a:ext cx="2275367" cy="758419"/>
          </a:xfrm>
        </p:spPr>
        <p:txBody>
          <a:bodyPr>
            <a:normAutofit/>
          </a:bodyPr>
          <a:lstStyle/>
          <a:p>
            <a:r>
              <a:rPr sz="3600" dirty="0">
                <a:latin typeface="Times New Roman" panose="02020603050405020304" pitchFamily="18" charset="0"/>
                <a:cs typeface="Times New Roman" panose="02020603050405020304" pitchFamily="18" charset="0"/>
              </a:rPr>
              <a:t>Challenges</a:t>
            </a:r>
          </a:p>
        </p:txBody>
      </p:sp>
      <p:sp>
        <p:nvSpPr>
          <p:cNvPr id="3" name="Content Placeholder 2"/>
          <p:cNvSpPr>
            <a:spLocks noGrp="1"/>
          </p:cNvSpPr>
          <p:nvPr>
            <p:ph idx="1"/>
          </p:nvPr>
        </p:nvSpPr>
        <p:spPr>
          <a:xfrm>
            <a:off x="457200" y="1343210"/>
            <a:ext cx="8229600" cy="4525963"/>
          </a:xfrm>
        </p:spPr>
        <p:txBody>
          <a:bodyPr>
            <a:normAutofit/>
          </a:bodyPr>
          <a:lstStyle/>
          <a:p>
            <a:pPr marL="0" indent="0">
              <a:buNone/>
              <a:defRPr sz="1800"/>
            </a:pPr>
            <a:r>
              <a:rPr lang="en-US" b="1" dirty="0">
                <a:latin typeface="Times New Roman" panose="02020603050405020304" pitchFamily="18" charset="0"/>
                <a:cs typeface="Times New Roman" panose="02020603050405020304" pitchFamily="18" charset="0"/>
              </a:rPr>
              <a:t>Unstructured and Noisy Text</a:t>
            </a:r>
          </a:p>
          <a:p>
            <a:pPr marL="0" indent="0">
              <a:buNone/>
              <a:defRPr sz="1800"/>
            </a:pPr>
            <a:r>
              <a:rPr lang="en-US" dirty="0">
                <a:latin typeface="Times New Roman" panose="02020603050405020304" pitchFamily="18" charset="0"/>
                <a:cs typeface="Times New Roman" panose="02020603050405020304" pitchFamily="18" charset="0"/>
              </a:rPr>
              <a:t>Tweets are among the noisiest textual data sources in existence. The combination of informal language, internet slang, abbreviations, mixed languages, emojis, embedded URLs, @mentions, and hashtags creates a preprocessing challenge that is substantially greater than standard NLP tasks. </a:t>
            </a:r>
          </a:p>
          <a:p>
            <a:pPr marL="0" indent="0">
              <a:buNone/>
              <a:defRPr sz="1800"/>
            </a:pPr>
            <a:r>
              <a:rPr lang="en-IN" b="1" dirty="0">
                <a:latin typeface="Times New Roman" panose="02020603050405020304" pitchFamily="18" charset="0"/>
                <a:cs typeface="Times New Roman" panose="02020603050405020304" pitchFamily="18" charset="0"/>
              </a:rPr>
              <a:t>Datetime Format Inconsistency</a:t>
            </a:r>
          </a:p>
          <a:p>
            <a:pPr marL="0" indent="0">
              <a:buNone/>
              <a:defRPr sz="1800"/>
            </a:pPr>
            <a:r>
              <a:rPr lang="en-IN" dirty="0">
                <a:latin typeface="Times New Roman" panose="02020603050405020304" pitchFamily="18" charset="0"/>
                <a:cs typeface="Times New Roman" panose="02020603050405020304" pitchFamily="18" charset="0"/>
              </a:rPr>
              <a:t>The Datetime column contained timestamps in multiple formats with varying </a:t>
            </a:r>
            <a:r>
              <a:rPr lang="en-IN" dirty="0" err="1">
                <a:latin typeface="Times New Roman" panose="02020603050405020304" pitchFamily="18" charset="0"/>
                <a:cs typeface="Times New Roman" panose="02020603050405020304" pitchFamily="18" charset="0"/>
              </a:rPr>
              <a:t>timezone</a:t>
            </a:r>
            <a:r>
              <a:rPr lang="en-IN" dirty="0">
                <a:latin typeface="Times New Roman" panose="02020603050405020304" pitchFamily="18" charset="0"/>
                <a:cs typeface="Times New Roman" panose="02020603050405020304" pitchFamily="18" charset="0"/>
              </a:rPr>
              <a:t> specifications (UTC offset, named </a:t>
            </a:r>
            <a:r>
              <a:rPr lang="en-IN" dirty="0" err="1">
                <a:latin typeface="Times New Roman" panose="02020603050405020304" pitchFamily="18" charset="0"/>
                <a:cs typeface="Times New Roman" panose="02020603050405020304" pitchFamily="18" charset="0"/>
              </a:rPr>
              <a:t>timezone</a:t>
            </a:r>
            <a:r>
              <a:rPr lang="en-IN" dirty="0">
                <a:latin typeface="Times New Roman" panose="02020603050405020304" pitchFamily="18" charset="0"/>
                <a:cs typeface="Times New Roman" panose="02020603050405020304" pitchFamily="18" charset="0"/>
              </a:rPr>
              <a:t>, no </a:t>
            </a:r>
            <a:r>
              <a:rPr lang="en-IN" dirty="0" err="1">
                <a:latin typeface="Times New Roman" panose="02020603050405020304" pitchFamily="18" charset="0"/>
                <a:cs typeface="Times New Roman" panose="02020603050405020304" pitchFamily="18" charset="0"/>
              </a:rPr>
              <a:t>timezone</a:t>
            </a:r>
            <a:r>
              <a:rPr lang="en-IN" dirty="0">
                <a:latin typeface="Times New Roman" panose="02020603050405020304" pitchFamily="18" charset="0"/>
                <a:cs typeface="Times New Roman" panose="02020603050405020304" pitchFamily="18" charset="0"/>
              </a:rPr>
              <a:t>). Standard pandas datetime parsing with a fixed format string failed on a significant proportion of records. </a:t>
            </a:r>
          </a:p>
          <a:p>
            <a:pPr marL="0" indent="0">
              <a:buNone/>
              <a:defRPr sz="1800"/>
            </a:pPr>
            <a:r>
              <a:rPr lang="en-IN" b="1" dirty="0">
                <a:latin typeface="Times New Roman" panose="02020603050405020304" pitchFamily="18" charset="0"/>
                <a:cs typeface="Times New Roman" panose="02020603050405020304" pitchFamily="18" charset="0"/>
              </a:rPr>
              <a:t>Hashtag Normalisation</a:t>
            </a:r>
          </a:p>
          <a:p>
            <a:pPr marL="0" indent="0">
              <a:buNone/>
              <a:defRPr sz="1800"/>
            </a:pPr>
            <a:r>
              <a:rPr lang="en-IN" dirty="0">
                <a:latin typeface="Times New Roman" panose="02020603050405020304" pitchFamily="18" charset="0"/>
                <a:cs typeface="Times New Roman" panose="02020603050405020304" pitchFamily="18" charset="0"/>
              </a:rPr>
              <a:t>Similar topics are discussed under multiple hashtag variants -- AI , #ai , #ArtificialIntelligence , #artificialintelligence , #ArtificialIntelligence2026 -- which appear as distinct tokens despite referring to the same concept. </a:t>
            </a:r>
            <a:endParaRPr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74ABA48-5BCA-ECE1-2760-F606E7AD853D}"/>
              </a:ext>
            </a:extLst>
          </p:cNvPr>
          <p:cNvSpPr>
            <a:spLocks noGrp="1"/>
          </p:cNvSpPr>
          <p:nvPr>
            <p:ph type="sldNum" sz="quarter" idx="12"/>
          </p:nvPr>
        </p:nvSpPr>
        <p:spPr/>
        <p:txBody>
          <a:bodyPr/>
          <a:lstStyle/>
          <a:p>
            <a:fld id="{C1FF6DA9-008F-8B48-92A6-B652298478BF}" type="slidenum">
              <a:rPr lang="en-US" smtClean="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5181" y="15950"/>
            <a:ext cx="3009014" cy="1143000"/>
          </a:xfrm>
        </p:spPr>
        <p:txBody>
          <a:bodyPr>
            <a:normAutofit/>
          </a:bodyPr>
          <a:lstStyle/>
          <a:p>
            <a:r>
              <a:rPr sz="3600" dirty="0">
                <a:latin typeface="Times New Roman" panose="02020603050405020304" pitchFamily="18" charset="0"/>
                <a:cs typeface="Times New Roman" panose="02020603050405020304" pitchFamily="18" charset="0"/>
              </a:rPr>
              <a:t>Future Scope</a:t>
            </a:r>
          </a:p>
        </p:txBody>
      </p:sp>
      <p:sp>
        <p:nvSpPr>
          <p:cNvPr id="3" name="Content Placeholder 2"/>
          <p:cNvSpPr>
            <a:spLocks noGrp="1"/>
          </p:cNvSpPr>
          <p:nvPr>
            <p:ph idx="1"/>
          </p:nvPr>
        </p:nvSpPr>
        <p:spPr>
          <a:xfrm>
            <a:off x="457200" y="1275908"/>
            <a:ext cx="8229600" cy="4850256"/>
          </a:xfrm>
        </p:spPr>
        <p:txBody>
          <a:bodyPr>
            <a:normAutofit fontScale="25000" lnSpcReduction="20000"/>
          </a:bodyPr>
          <a:lstStyle/>
          <a:p>
            <a:pPr marL="0" indent="0">
              <a:buNone/>
              <a:defRPr sz="1800"/>
            </a:pPr>
            <a:r>
              <a:rPr lang="en-US" sz="7200" dirty="0">
                <a:latin typeface="Times New Roman" panose="02020603050405020304" pitchFamily="18" charset="0"/>
                <a:cs typeface="Times New Roman" panose="02020603050405020304" pitchFamily="18" charset="0"/>
              </a:rPr>
              <a:t>The framework developed in this project provides a strong foundation for several high-value extensions and enhancements. The following directions represent the most promising avenues for future development: </a:t>
            </a:r>
          </a:p>
          <a:p>
            <a:pPr marL="0" indent="0">
              <a:buNone/>
              <a:defRPr sz="1800"/>
            </a:pPr>
            <a:endParaRPr lang="en-US" sz="7200" dirty="0">
              <a:latin typeface="Times New Roman" panose="02020603050405020304" pitchFamily="18" charset="0"/>
              <a:cs typeface="Times New Roman" panose="02020603050405020304" pitchFamily="18" charset="0"/>
            </a:endParaRPr>
          </a:p>
          <a:p>
            <a:pPr marL="0" indent="0">
              <a:buNone/>
            </a:pPr>
            <a:r>
              <a:rPr lang="en-US" sz="7200" b="1" dirty="0">
                <a:latin typeface="Times New Roman" panose="02020603050405020304" pitchFamily="18" charset="0"/>
                <a:cs typeface="Times New Roman" panose="02020603050405020304" pitchFamily="18" charset="0"/>
              </a:rPr>
              <a:t>Real-Time Data Integration</a:t>
            </a:r>
          </a:p>
          <a:p>
            <a:pPr marL="0" indent="0">
              <a:buNone/>
            </a:pPr>
            <a:r>
              <a:rPr lang="en-US" sz="7200" dirty="0">
                <a:latin typeface="Times New Roman" panose="02020603050405020304" pitchFamily="18" charset="0"/>
                <a:cs typeface="Times New Roman" panose="02020603050405020304" pitchFamily="18" charset="0"/>
              </a:rPr>
              <a:t>Future improvements can integrate the Twitter (X) API to collect and </a:t>
            </a:r>
            <a:r>
              <a:rPr lang="en-US" sz="7200" dirty="0" err="1">
                <a:latin typeface="Times New Roman" panose="02020603050405020304" pitchFamily="18" charset="0"/>
                <a:cs typeface="Times New Roman" panose="02020603050405020304" pitchFamily="18" charset="0"/>
              </a:rPr>
              <a:t>analyse</a:t>
            </a:r>
            <a:r>
              <a:rPr lang="en-US" sz="7200" dirty="0">
                <a:latin typeface="Times New Roman" panose="02020603050405020304" pitchFamily="18" charset="0"/>
                <a:cs typeface="Times New Roman" panose="02020603050405020304" pitchFamily="18" charset="0"/>
              </a:rPr>
              <a:t> tweets in real time. This will help the system detect live trends, monitor sentiments instantly, and provide dynamic posting recommendations using technologies like Apache Kafka and Apache Spark.</a:t>
            </a:r>
          </a:p>
          <a:p>
            <a:pPr marL="0" indent="0">
              <a:buNone/>
            </a:pPr>
            <a:r>
              <a:rPr lang="en-US" sz="7200" b="1" dirty="0">
                <a:latin typeface="Times New Roman" panose="02020603050405020304" pitchFamily="18" charset="0"/>
                <a:cs typeface="Times New Roman" panose="02020603050405020304" pitchFamily="18" charset="0"/>
              </a:rPr>
              <a:t>Engagement Prediction Model</a:t>
            </a:r>
          </a:p>
          <a:p>
            <a:pPr marL="0" indent="0">
              <a:buNone/>
            </a:pPr>
            <a:r>
              <a:rPr lang="en-US" sz="7200" dirty="0">
                <a:latin typeface="Times New Roman" panose="02020603050405020304" pitchFamily="18" charset="0"/>
                <a:cs typeface="Times New Roman" panose="02020603050405020304" pitchFamily="18" charset="0"/>
              </a:rPr>
              <a:t>The system can be enhanced with a prediction model that estimates likes, retweets, and replies before a tweet is posted. By </a:t>
            </a:r>
            <a:r>
              <a:rPr lang="en-US" sz="7200" dirty="0" err="1">
                <a:latin typeface="Times New Roman" panose="02020603050405020304" pitchFamily="18" charset="0"/>
                <a:cs typeface="Times New Roman" panose="02020603050405020304" pitchFamily="18" charset="0"/>
              </a:rPr>
              <a:t>analysing</a:t>
            </a:r>
            <a:r>
              <a:rPr lang="en-US" sz="7200" dirty="0">
                <a:latin typeface="Times New Roman" panose="02020603050405020304" pitchFamily="18" charset="0"/>
                <a:cs typeface="Times New Roman" panose="02020603050405020304" pitchFamily="18" charset="0"/>
              </a:rPr>
              <a:t> tweet content, hashtags, sentiment, and posting time, users can </a:t>
            </a:r>
            <a:r>
              <a:rPr lang="en-US" sz="7200" dirty="0" err="1">
                <a:latin typeface="Times New Roman" panose="02020603050405020304" pitchFamily="18" charset="0"/>
                <a:cs typeface="Times New Roman" panose="02020603050405020304" pitchFamily="18" charset="0"/>
              </a:rPr>
              <a:t>optimise</a:t>
            </a:r>
            <a:r>
              <a:rPr lang="en-US" sz="7200" dirty="0">
                <a:latin typeface="Times New Roman" panose="02020603050405020304" pitchFamily="18" charset="0"/>
                <a:cs typeface="Times New Roman" panose="02020603050405020304" pitchFamily="18" charset="0"/>
              </a:rPr>
              <a:t> their content for better engagement.</a:t>
            </a:r>
          </a:p>
          <a:p>
            <a:pPr marL="0" indent="0">
              <a:buNone/>
            </a:pPr>
            <a:r>
              <a:rPr lang="en-US" sz="7200" b="1" dirty="0">
                <a:latin typeface="Times New Roman" panose="02020603050405020304" pitchFamily="18" charset="0"/>
                <a:cs typeface="Times New Roman" panose="02020603050405020304" pitchFamily="18" charset="0"/>
              </a:rPr>
              <a:t>User-Specific </a:t>
            </a:r>
            <a:r>
              <a:rPr lang="en-US" sz="7200" b="1" dirty="0" err="1">
                <a:latin typeface="Times New Roman" panose="02020603050405020304" pitchFamily="18" charset="0"/>
                <a:cs typeface="Times New Roman" panose="02020603050405020304" pitchFamily="18" charset="0"/>
              </a:rPr>
              <a:t>Personalisation</a:t>
            </a:r>
            <a:endParaRPr lang="en-US" sz="7200" b="1" dirty="0">
              <a:latin typeface="Times New Roman" panose="02020603050405020304" pitchFamily="18" charset="0"/>
              <a:cs typeface="Times New Roman" panose="02020603050405020304" pitchFamily="18" charset="0"/>
            </a:endParaRPr>
          </a:p>
          <a:p>
            <a:pPr marL="0" indent="0">
              <a:buNone/>
            </a:pPr>
            <a:r>
              <a:rPr lang="en-US" sz="7200" dirty="0">
                <a:latin typeface="Times New Roman" panose="02020603050405020304" pitchFamily="18" charset="0"/>
                <a:cs typeface="Times New Roman" panose="02020603050405020304" pitchFamily="18" charset="0"/>
              </a:rPr>
              <a:t>Future versions can provide </a:t>
            </a:r>
            <a:r>
              <a:rPr lang="en-US" sz="7200" dirty="0" err="1">
                <a:latin typeface="Times New Roman" panose="02020603050405020304" pitchFamily="18" charset="0"/>
                <a:cs typeface="Times New Roman" panose="02020603050405020304" pitchFamily="18" charset="0"/>
              </a:rPr>
              <a:t>personalised</a:t>
            </a:r>
            <a:r>
              <a:rPr lang="en-US" sz="7200" dirty="0">
                <a:latin typeface="Times New Roman" panose="02020603050405020304" pitchFamily="18" charset="0"/>
                <a:cs typeface="Times New Roman" panose="02020603050405020304" pitchFamily="18" charset="0"/>
              </a:rPr>
              <a:t> recommendations by learning from a user’s historical engagement patterns. The system can </a:t>
            </a:r>
            <a:r>
              <a:rPr lang="en-US" sz="7200" dirty="0" err="1">
                <a:latin typeface="Times New Roman" panose="02020603050405020304" pitchFamily="18" charset="0"/>
                <a:cs typeface="Times New Roman" panose="02020603050405020304" pitchFamily="18" charset="0"/>
              </a:rPr>
              <a:t>analyse</a:t>
            </a:r>
            <a:r>
              <a:rPr lang="en-US" sz="7200" dirty="0">
                <a:latin typeface="Times New Roman" panose="02020603050405020304" pitchFamily="18" charset="0"/>
                <a:cs typeface="Times New Roman" panose="02020603050405020304" pitchFamily="18" charset="0"/>
              </a:rPr>
              <a:t> audience </a:t>
            </a:r>
            <a:r>
              <a:rPr lang="en-US" sz="7200" dirty="0" err="1">
                <a:latin typeface="Times New Roman" panose="02020603050405020304" pitchFamily="18" charset="0"/>
                <a:cs typeface="Times New Roman" panose="02020603050405020304" pitchFamily="18" charset="0"/>
              </a:rPr>
              <a:t>behaviour</a:t>
            </a:r>
            <a:r>
              <a:rPr lang="en-US" sz="7200" dirty="0">
                <a:latin typeface="Times New Roman" panose="02020603050405020304" pitchFamily="18" charset="0"/>
                <a:cs typeface="Times New Roman" panose="02020603050405020304" pitchFamily="18" charset="0"/>
              </a:rPr>
              <a:t> and posting preferences to suggest better content strategies tailored to individual creators.</a:t>
            </a:r>
          </a:p>
          <a:p>
            <a:pPr marL="0" indent="0">
              <a:buNone/>
              <a:defRPr sz="1800"/>
            </a:pPr>
            <a:endParaRPr dirty="0"/>
          </a:p>
        </p:txBody>
      </p:sp>
      <p:sp>
        <p:nvSpPr>
          <p:cNvPr id="4" name="Slide Number Placeholder 3">
            <a:extLst>
              <a:ext uri="{FF2B5EF4-FFF2-40B4-BE49-F238E27FC236}">
                <a16:creationId xmlns:a16="http://schemas.microsoft.com/office/drawing/2014/main" id="{3B979513-A8A1-D208-A485-99A3FEC6A0FF}"/>
              </a:ext>
            </a:extLst>
          </p:cNvPr>
          <p:cNvSpPr>
            <a:spLocks noGrp="1"/>
          </p:cNvSpPr>
          <p:nvPr>
            <p:ph type="sldNum" sz="quarter" idx="12"/>
          </p:nvPr>
        </p:nvSpPr>
        <p:spPr/>
        <p:txBody>
          <a:bodyPr/>
          <a:lstStyle/>
          <a:p>
            <a:fld id="{C1FF6DA9-008F-8B48-92A6-B652298478BF}" type="slidenum">
              <a:rPr lang="en-US" smtClean="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281"/>
            <a:ext cx="2360428" cy="1143000"/>
          </a:xfrm>
        </p:spPr>
        <p:txBody>
          <a:bodyPr/>
          <a:lstStyle/>
          <a:p>
            <a:r>
              <a:rPr sz="3600" dirty="0">
                <a:latin typeface="Times New Roman" panose="02020603050405020304" pitchFamily="18" charset="0"/>
                <a:cs typeface="Times New Roman" panose="02020603050405020304" pitchFamily="18" charset="0"/>
              </a:rPr>
              <a:t>Conclusion</a:t>
            </a:r>
            <a:endParaRPr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366284"/>
            <a:ext cx="8229600" cy="4525963"/>
          </a:xfrm>
        </p:spPr>
        <p:txBody>
          <a:bodyPr/>
          <a:lstStyle/>
          <a:p>
            <a:pPr marL="0" indent="0" algn="just">
              <a:buNone/>
              <a:defRPr sz="1800"/>
            </a:pPr>
            <a:r>
              <a:rPr lang="en-US" dirty="0">
                <a:latin typeface="Times New Roman" panose="02020603050405020304" pitchFamily="18" charset="0"/>
                <a:cs typeface="Times New Roman" panose="02020603050405020304" pitchFamily="18" charset="0"/>
              </a:rPr>
              <a:t>This project has successfully developed a comprehensive, data-driven analytical framework for studying Twitter(X) engagement patterns. By integrating Natural Language Processing, machine learning, and data visualization the system provides a multi-dimensional view of the factors that influence audience engagement on one of the world most important social media platforms.</a:t>
            </a:r>
          </a:p>
          <a:p>
            <a:pPr marL="0" indent="0">
              <a:buNone/>
              <a:defRPr sz="1800"/>
            </a:pPr>
            <a:r>
              <a:rPr lang="en-US" dirty="0">
                <a:latin typeface="Times New Roman" panose="02020603050405020304" pitchFamily="18" charset="0"/>
                <a:cs typeface="Times New Roman" panose="02020603050405020304" pitchFamily="18" charset="0"/>
              </a:rPr>
              <a:t>The project delivered the following concrete outcomes:</a:t>
            </a:r>
          </a:p>
          <a:p>
            <a:pPr algn="just">
              <a:defRPr sz="1800"/>
            </a:pPr>
            <a:r>
              <a:rPr lang="en-IN" dirty="0">
                <a:latin typeface="Times New Roman" panose="02020603050405020304" pitchFamily="18" charset="0"/>
                <a:cs typeface="Times New Roman" panose="02020603050405020304" pitchFamily="18" charset="0"/>
              </a:rPr>
              <a:t>A comprehensive EDA framework covering sentiment distribution, trending topics, hashtag analysis, temporal patterns, and sentiment evolution over time.</a:t>
            </a:r>
          </a:p>
          <a:p>
            <a:pPr algn="just">
              <a:defRPr sz="1800"/>
            </a:pPr>
            <a:r>
              <a:rPr lang="en-IN" dirty="0">
                <a:latin typeface="Times New Roman" panose="02020603050405020304" pitchFamily="18" charset="0"/>
                <a:cs typeface="Times New Roman" panose="02020603050405020304" pitchFamily="18" charset="0"/>
              </a:rPr>
              <a:t>A TF-IDF + cosine similarity recommendation engine that provides contextually relevant tweet suggestions, hashtag recommendations, and optimal posting time guidance.</a:t>
            </a:r>
          </a:p>
          <a:p>
            <a:pPr algn="just">
              <a:defRPr sz="1800"/>
            </a:pPr>
            <a:r>
              <a:rPr lang="en-IN" dirty="0">
                <a:latin typeface="Times New Roman" panose="02020603050405020304" pitchFamily="18" charset="0"/>
                <a:cs typeface="Times New Roman" panose="02020603050405020304" pitchFamily="18" charset="0"/>
              </a:rPr>
              <a:t>A Logistic Regression sentiment classifier achieving 81.86% overall accuracy with consistent precision across all three sentiment classes. </a:t>
            </a:r>
            <a:endParaRPr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8843B1A-0EF2-2ACE-B895-B8649161BA06}"/>
              </a:ext>
            </a:extLst>
          </p:cNvPr>
          <p:cNvSpPr>
            <a:spLocks noGrp="1"/>
          </p:cNvSpPr>
          <p:nvPr>
            <p:ph type="sldNum" sz="quarter" idx="12"/>
          </p:nvPr>
        </p:nvSpPr>
        <p:spPr/>
        <p:txBody>
          <a:bodyPr/>
          <a:lstStyle/>
          <a:p>
            <a:fld id="{C1FF6DA9-008F-8B48-92A6-B652298478BF}" type="slidenum">
              <a:rPr lang="en-US" smtClean="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5888B08-B90D-50E9-66B9-38C52E55A44A}"/>
              </a:ext>
            </a:extLst>
          </p:cNvPr>
          <p:cNvSpPr txBox="1"/>
          <p:nvPr/>
        </p:nvSpPr>
        <p:spPr>
          <a:xfrm>
            <a:off x="828675" y="571500"/>
            <a:ext cx="7772400" cy="5355312"/>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References</a:t>
            </a:r>
          </a:p>
          <a:p>
            <a:r>
              <a:rPr lang="en-IN" dirty="0">
                <a:latin typeface="Times New Roman" panose="02020603050405020304" pitchFamily="18" charset="0"/>
                <a:cs typeface="Times New Roman" panose="02020603050405020304" pitchFamily="18" charset="0"/>
              </a:rPr>
              <a:t>[1] Pak, A., &amp; </a:t>
            </a:r>
            <a:r>
              <a:rPr lang="en-IN" dirty="0" err="1">
                <a:latin typeface="Times New Roman" panose="02020603050405020304" pitchFamily="18" charset="0"/>
                <a:cs typeface="Times New Roman" panose="02020603050405020304" pitchFamily="18" charset="0"/>
              </a:rPr>
              <a:t>Paroubek</a:t>
            </a:r>
            <a:r>
              <a:rPr lang="en-IN" dirty="0">
                <a:latin typeface="Times New Roman" panose="02020603050405020304" pitchFamily="18" charset="0"/>
                <a:cs typeface="Times New Roman" panose="02020603050405020304" pitchFamily="18" charset="0"/>
              </a:rPr>
              <a:t>, P. (2010). Twitter as a Corpus for Sentiment Analysis and Opinion Mining. Proceedings of LREC 2010, Valletta, Malta. ELRA. </a:t>
            </a:r>
          </a:p>
          <a:p>
            <a:r>
              <a:rPr lang="en-IN" dirty="0">
                <a:latin typeface="Times New Roman" panose="02020603050405020304" pitchFamily="18" charset="0"/>
                <a:cs typeface="Times New Roman" panose="02020603050405020304" pitchFamily="18" charset="0"/>
              </a:rPr>
              <a:t>[2] Pang, B., Lee, L., &amp; Vaithyanathan, S. (2002). Thumbs Up? Sentiment Classification Using Machine Learning Techniques. Proceedings of EMNLP 2002, Philadelphia, PA. ACL. </a:t>
            </a:r>
          </a:p>
          <a:p>
            <a:r>
              <a:rPr lang="en-IN" dirty="0">
                <a:latin typeface="Times New Roman" panose="02020603050405020304" pitchFamily="18" charset="0"/>
                <a:cs typeface="Times New Roman" panose="02020603050405020304" pitchFamily="18" charset="0"/>
              </a:rPr>
              <a:t>[3] Kwak, H., Lee, C., Park, H., &amp; Moon, S. (2010). What is Twitter, a Social Network or a News Media? Proceedings of WWW 2010, Raleigh, NC, USA. ACM. </a:t>
            </a:r>
          </a:p>
          <a:p>
            <a:r>
              <a:rPr lang="en-IN" dirty="0">
                <a:latin typeface="Times New Roman" panose="02020603050405020304" pitchFamily="18" charset="0"/>
                <a:cs typeface="Times New Roman" panose="02020603050405020304" pitchFamily="18" charset="0"/>
              </a:rPr>
              <a:t>[4] Ramos, J. (2003). Using TF-IDF to Determine Word Relevance in Document Queries. Proceedings of the First Instructional Conference on Machine Learning, Piscataway, NJ.</a:t>
            </a:r>
          </a:p>
          <a:p>
            <a:r>
              <a:rPr lang="en-IN" dirty="0">
                <a:latin typeface="Times New Roman" panose="02020603050405020304" pitchFamily="18" charset="0"/>
                <a:cs typeface="Times New Roman" panose="02020603050405020304" pitchFamily="18" charset="0"/>
              </a:rPr>
              <a:t> [5] Salton, G., &amp; McGill, M. J. (1983). Introduction to Modern Information Retrieval. McGraw-Hill, New York. </a:t>
            </a:r>
          </a:p>
          <a:p>
            <a:r>
              <a:rPr lang="en-IN" dirty="0">
                <a:latin typeface="Times New Roman" panose="02020603050405020304" pitchFamily="18" charset="0"/>
                <a:cs typeface="Times New Roman" panose="02020603050405020304" pitchFamily="18" charset="0"/>
              </a:rPr>
              <a:t>[6] Go, A., Bhayani, R., &amp; Huang, L. (2009). Twitter Sentiment Classification Using Distant Supervision. Stanford University Technical Report, CS224N.</a:t>
            </a:r>
          </a:p>
          <a:p>
            <a:r>
              <a:rPr lang="en-IN" dirty="0">
                <a:latin typeface="Times New Roman" panose="02020603050405020304" pitchFamily="18" charset="0"/>
                <a:cs typeface="Times New Roman" panose="02020603050405020304" pitchFamily="18" charset="0"/>
              </a:rPr>
              <a:t>[7] </a:t>
            </a:r>
            <a:r>
              <a:rPr lang="en-IN" dirty="0" err="1">
                <a:latin typeface="Times New Roman" panose="02020603050405020304" pitchFamily="18" charset="0"/>
                <a:cs typeface="Times New Roman" panose="02020603050405020304" pitchFamily="18" charset="0"/>
              </a:rPr>
              <a:t>Nakov</a:t>
            </a:r>
            <a:r>
              <a:rPr lang="en-IN" dirty="0">
                <a:latin typeface="Times New Roman" panose="02020603050405020304" pitchFamily="18" charset="0"/>
                <a:cs typeface="Times New Roman" panose="02020603050405020304" pitchFamily="18" charset="0"/>
              </a:rPr>
              <a:t>, P., et al. (2016). SemEval-2016 Task 4: Sentiment Analysis in Twitter. Proceedings of </a:t>
            </a:r>
            <a:r>
              <a:rPr lang="en-IN" dirty="0" err="1">
                <a:latin typeface="Times New Roman" panose="02020603050405020304" pitchFamily="18" charset="0"/>
                <a:cs typeface="Times New Roman" panose="02020603050405020304" pitchFamily="18" charset="0"/>
              </a:rPr>
              <a:t>SemEval</a:t>
            </a:r>
            <a:r>
              <a:rPr lang="en-IN" dirty="0">
                <a:latin typeface="Times New Roman" panose="02020603050405020304" pitchFamily="18" charset="0"/>
                <a:cs typeface="Times New Roman" panose="02020603050405020304" pitchFamily="18" charset="0"/>
              </a:rPr>
              <a:t> 2016, San Diego, CA. ACL. </a:t>
            </a:r>
          </a:p>
        </p:txBody>
      </p:sp>
      <p:sp>
        <p:nvSpPr>
          <p:cNvPr id="7" name="Slide Number Placeholder 6">
            <a:extLst>
              <a:ext uri="{FF2B5EF4-FFF2-40B4-BE49-F238E27FC236}">
                <a16:creationId xmlns:a16="http://schemas.microsoft.com/office/drawing/2014/main" id="{22ACDB81-9F5F-A219-C1E2-C4611941F8BF}"/>
              </a:ext>
            </a:extLst>
          </p:cNvPr>
          <p:cNvSpPr>
            <a:spLocks noGrp="1"/>
          </p:cNvSpPr>
          <p:nvPr>
            <p:ph type="sldNum" sz="quarter" idx="12"/>
          </p:nvPr>
        </p:nvSpPr>
        <p:spPr/>
        <p:txBody>
          <a:bodyPr/>
          <a:lstStyle/>
          <a:p>
            <a:fld id="{C1FF6DA9-008F-8B48-92A6-B652298478BF}" type="slidenum">
              <a:rPr lang="en-US" smtClean="0"/>
              <a:t>27</a:t>
            </a:fld>
            <a:endParaRPr lang="en-US"/>
          </a:p>
        </p:txBody>
      </p:sp>
    </p:spTree>
    <p:extLst>
      <p:ext uri="{BB962C8B-B14F-4D97-AF65-F5344CB8AC3E}">
        <p14:creationId xmlns:p14="http://schemas.microsoft.com/office/powerpoint/2010/main" val="15282549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9C1742C-5A9A-C8AF-4EB5-E094751D66CD}"/>
              </a:ext>
            </a:extLst>
          </p:cNvPr>
          <p:cNvSpPr>
            <a:spLocks noGrp="1"/>
          </p:cNvSpPr>
          <p:nvPr>
            <p:ph type="sldNum" sz="quarter" idx="12"/>
          </p:nvPr>
        </p:nvSpPr>
        <p:spPr/>
        <p:txBody>
          <a:bodyPr/>
          <a:lstStyle/>
          <a:p>
            <a:fld id="{C1FF6DA9-008F-8B48-92A6-B652298478BF}" type="slidenum">
              <a:rPr lang="en-US" smtClean="0"/>
              <a:t>28</a:t>
            </a:fld>
            <a:endParaRPr lang="en-US"/>
          </a:p>
        </p:txBody>
      </p:sp>
    </p:spTree>
    <p:extLst>
      <p:ext uri="{BB962C8B-B14F-4D97-AF65-F5344CB8AC3E}">
        <p14:creationId xmlns:p14="http://schemas.microsoft.com/office/powerpoint/2010/main" val="7014164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514</TotalTime>
  <Words>2748</Words>
  <Application>Microsoft Office PowerPoint</Application>
  <PresentationFormat>On-screen Show (4:3)</PresentationFormat>
  <Paragraphs>362</Paragraphs>
  <Slides>28</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Arial</vt:lpstr>
      <vt:lpstr>Arial MT</vt:lpstr>
      <vt:lpstr>Calibri</vt:lpstr>
      <vt:lpstr>Courier New</vt:lpstr>
      <vt:lpstr>Symbol</vt:lpstr>
      <vt:lpstr>Times New Roman</vt:lpstr>
      <vt:lpstr>Office Theme</vt:lpstr>
      <vt:lpstr>PowerPoint Presentation</vt:lpstr>
      <vt:lpstr>PowerPoint Presentation</vt:lpstr>
      <vt:lpstr>PowerPoint Presentation</vt:lpstr>
      <vt:lpstr>PowerPoint Presentation</vt:lpstr>
      <vt:lpstr>Introduction</vt:lpstr>
      <vt:lpstr>Problem Statement</vt:lpstr>
      <vt:lpstr>Problem Statement</vt:lpstr>
      <vt:lpstr>Objectives</vt:lpstr>
      <vt:lpstr>Objectives</vt:lpstr>
      <vt:lpstr>Workflow</vt:lpstr>
      <vt:lpstr>Workflow</vt:lpstr>
      <vt:lpstr>Workflow</vt:lpstr>
      <vt:lpstr>Workflow</vt:lpstr>
      <vt:lpstr>Workflow</vt:lpstr>
      <vt:lpstr>Workflow</vt:lpstr>
      <vt:lpstr>Workflow</vt:lpstr>
      <vt:lpstr>Workflow</vt:lpstr>
      <vt:lpstr>Workflow</vt:lpstr>
      <vt:lpstr>PowerPoint Presentation</vt:lpstr>
      <vt:lpstr>Model Evaluation</vt:lpstr>
      <vt:lpstr>Model Evaluation</vt:lpstr>
      <vt:lpstr>PowerPoint Presentation</vt:lpstr>
      <vt:lpstr>Results &amp; Insights</vt:lpstr>
      <vt:lpstr>Challenges</vt:lpstr>
      <vt:lpstr>Future Scope</vt:lpstr>
      <vt:lpstr>Conclusion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BARSAN RAY</dc:creator>
  <cp:keywords/>
  <dc:description>generated using python-pptx</dc:description>
  <cp:lastModifiedBy>Biswanath Kar</cp:lastModifiedBy>
  <cp:revision>5</cp:revision>
  <dcterms:created xsi:type="dcterms:W3CDTF">2013-01-27T09:14:16Z</dcterms:created>
  <dcterms:modified xsi:type="dcterms:W3CDTF">2026-05-22T23:03:22Z</dcterms:modified>
  <cp:category/>
</cp:coreProperties>
</file>